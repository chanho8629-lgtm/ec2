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Gallery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Gallery
Create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Gallery Create — 1/2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gallery-register.html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POST /api/galleries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GalleryAPIController.write(memberId, requestDTO, coverFile)</a:t>
            </a:r>
          </a:p>
        </p:txBody>
      </p:sp>
      <p:sp>
        <p:nvSpPr>
          <p:cNvPr id="21" name="Oval 20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GalleryService.write(memberId, requestDTO, coverFile)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9522" y="2606040"/>
            <a:ext cx="136016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Transactional</a:t>
            </a:r>
          </a:p>
        </p:txBody>
      </p:sp>
      <p:sp>
        <p:nvSpPr>
          <p:cNvPr id="25" name="Oval 24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996946" y="30632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S3FileService.upload("galleries", coverFile)</a:t>
            </a:r>
          </a:p>
        </p:txBody>
      </p:sp>
      <p:pic>
        <p:nvPicPr>
          <p:cNvPr id="28" name="Picture 27" descr="스크린샷 2026-05-24 202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70" y="3031236"/>
            <a:ext cx="365760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863090" y="3415284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700" b="0" i="0">
                <a:solidFill>
                  <a:srgbClr val="E25444"/>
                </a:solidFill>
              </a:rPr>
              <a:t>Amazon S3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11730" y="3214116"/>
            <a:ext cx="585216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091482" y="33649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121658" y="34308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996946" y="35753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GalleryMapper.xml</a:t>
            </a:r>
          </a:p>
        </p:txBody>
      </p:sp>
      <p:pic>
        <p:nvPicPr>
          <p:cNvPr id="34" name="Picture 33" descr="스크린샷 2026-05-24 2019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114" y="3552444"/>
            <a:ext cx="347472" cy="3474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70482" y="3927348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tbl_gallery
tbl_gallery_work
tbl_gallery_tag
AWS S3 Bucket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02586" y="3726180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091482" y="38770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121658" y="394289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996946" y="408736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GalleryDAO.save(requestDTO)</a:t>
            </a:r>
          </a:p>
        </p:txBody>
      </p:sp>
      <p:sp>
        <p:nvSpPr>
          <p:cNvPr id="40" name="Oval 39"/>
          <p:cNvSpPr/>
          <p:nvPr/>
        </p:nvSpPr>
        <p:spPr>
          <a:xfrm>
            <a:off x="4091482" y="438912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4121658" y="445495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996946" y="459943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GalleryDAO.saveWorkLink(galleryId, workId)</a:t>
            </a:r>
          </a:p>
        </p:txBody>
      </p:sp>
      <p:sp>
        <p:nvSpPr>
          <p:cNvPr id="43" name="Oval 42"/>
          <p:cNvSpPr/>
          <p:nvPr/>
        </p:nvSpPr>
        <p:spPr>
          <a:xfrm>
            <a:off x="4091482" y="490118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4121658" y="496702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996946" y="511149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GalleryDAO.saveTag(galleryId, tagId)</a:t>
            </a:r>
          </a:p>
        </p:txBody>
      </p:sp>
      <p:sp>
        <p:nvSpPr>
          <p:cNvPr id="46" name="Oval 45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gallery-register.js</a:t>
            </a:r>
          </a:p>
        </p:txBody>
      </p:sp>
      <p:sp>
        <p:nvSpPr>
          <p:cNvPr id="50" name="Oval 49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GalleryCreateRequestDTO + coverFile</a:t>
            </a:r>
          </a:p>
        </p:txBody>
      </p:sp>
      <p:sp>
        <p:nvSpPr>
          <p:cNvPr id="53" name="Oval 52"/>
          <p:cNvSpPr/>
          <p:nvPr/>
        </p:nvSpPr>
        <p:spPr>
          <a:xfrm>
            <a:off x="9317278" y="26791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347454" y="27450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222742" y="28895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/main?relatedGalleryId={id}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44917" y="2944368"/>
            <a:ext cx="841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1" i="0">
                <a:solidFill>
                  <a:srgbClr val="111111"/>
                </a:solidFill>
              </a:rPr>
              <a:t>Redirect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Gallery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Gallery
Create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Gallery Create — 2/2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GalleryDAO.updateWorkCount(galleryId)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975354" y="1947672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from previous Gallery Create step</a:t>
            </a:r>
          </a:p>
        </p:txBody>
      </p:sp>
      <p:sp>
        <p:nvSpPr>
          <p:cNvPr id="23" name="Oval 22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Gallery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Gallery
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Gallery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explore-result.html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GET /api/galleries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GalleryMapper.xml</a:t>
            </a:r>
          </a:p>
        </p:txBody>
      </p:sp>
      <p:pic>
        <p:nvPicPr>
          <p:cNvPr id="21" name="Picture 20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2016252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0482" y="2391156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tbl_gallery
AWS S3 Bucket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2586" y="2189988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GalleryDAO.findAll(searchDTO)</a:t>
            </a:r>
          </a:p>
        </p:txBody>
      </p:sp>
      <p:sp>
        <p:nvSpPr>
          <p:cNvPr id="27" name="Oval 26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996946" y="30632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GalleryDAO.countAll(searchDTO)</a:t>
            </a:r>
          </a:p>
        </p:txBody>
      </p:sp>
      <p:sp>
        <p:nvSpPr>
          <p:cNvPr id="30" name="Oval 29"/>
          <p:cNvSpPr/>
          <p:nvPr/>
        </p:nvSpPr>
        <p:spPr>
          <a:xfrm>
            <a:off x="4091482" y="33649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4308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6946" y="35753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GalleryService.getGalleryList(searchDTO)</a:t>
            </a:r>
          </a:p>
        </p:txBody>
      </p:sp>
      <p:sp>
        <p:nvSpPr>
          <p:cNvPr id="33" name="Oval 32"/>
          <p:cNvSpPr/>
          <p:nvPr/>
        </p:nvSpPr>
        <p:spPr>
          <a:xfrm>
            <a:off x="4091482" y="38770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121658" y="394289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996946" y="408736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S3FileService.getPresignedUrl(coverImage)</a:t>
            </a:r>
          </a:p>
        </p:txBody>
      </p:sp>
      <p:pic>
        <p:nvPicPr>
          <p:cNvPr id="36" name="Picture 35" descr="스크린샷 2026-05-24 202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970" y="4055364"/>
            <a:ext cx="365760" cy="3657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863090" y="4439412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700" b="0" i="0">
                <a:solidFill>
                  <a:srgbClr val="E25444"/>
                </a:solidFill>
              </a:rPr>
              <a:t>Amazon S3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11730" y="4238244"/>
            <a:ext cx="585216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091482" y="438912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121658" y="445495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996946" y="459943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GalleryAPIController.list(searchDTO)</a:t>
            </a:r>
          </a:p>
        </p:txBody>
      </p:sp>
      <p:sp>
        <p:nvSpPr>
          <p:cNvPr id="42" name="Oval 41"/>
          <p:cNvSpPr/>
          <p:nvPr/>
        </p:nvSpPr>
        <p:spPr>
          <a:xfrm>
            <a:off x="4091482" y="490118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121658" y="496702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091482" y="511149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121658" y="5177332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975354" y="5230368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service.js</a:t>
            </a:r>
          </a:p>
        </p:txBody>
      </p:sp>
      <p:sp>
        <p:nvSpPr>
          <p:cNvPr id="51" name="Oval 50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GallerySearchDTO</a:t>
            </a:r>
          </a:p>
        </p:txBody>
      </p:sp>
      <p:sp>
        <p:nvSpPr>
          <p:cNvPr id="54" name="Oval 53"/>
          <p:cNvSpPr/>
          <p:nvPr/>
        </p:nvSpPr>
        <p:spPr>
          <a:xfrm>
            <a:off x="9317278" y="26791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347454" y="27450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222742" y="28895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PageResponseDTO&lt;GalleryListResponseDTO&gt;</a:t>
            </a:r>
          </a:p>
        </p:txBody>
      </p:sp>
      <p:sp>
        <p:nvSpPr>
          <p:cNvPr id="57" name="Oval 56"/>
          <p:cNvSpPr/>
          <p:nvPr/>
        </p:nvSpPr>
        <p:spPr>
          <a:xfrm>
            <a:off x="9317278" y="31912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347454" y="325709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8222742" y="3401568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gallery-list.html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Gallery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Gallery
Detail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Gallery Detail — 1/2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gallerydetail.html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GET /api/galleries/{id}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GalleryMapper.xml  +  WorkMapper.xml</a:t>
            </a:r>
          </a:p>
        </p:txBody>
      </p:sp>
      <p:pic>
        <p:nvPicPr>
          <p:cNvPr id="21" name="Picture 20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2016252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0482" y="2391156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tbl_gallery
tbl_gallery_tag
tbl_work
tbl_work_file
AWS S3 Bucket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2586" y="2189988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GalleryDAO.findById(id)</a:t>
            </a:r>
          </a:p>
        </p:txBody>
      </p:sp>
      <p:sp>
        <p:nvSpPr>
          <p:cNvPr id="27" name="Oval 26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996946" y="30632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GalleryDAO.findTagsByGalleryId(id)</a:t>
            </a:r>
          </a:p>
        </p:txBody>
      </p:sp>
      <p:sp>
        <p:nvSpPr>
          <p:cNvPr id="30" name="Oval 29"/>
          <p:cNvSpPr/>
          <p:nvPr/>
        </p:nvSpPr>
        <p:spPr>
          <a:xfrm>
            <a:off x="4091482" y="33649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4308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6946" y="35753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WorkDAO.findAll(searchDTO)</a:t>
            </a:r>
          </a:p>
        </p:txBody>
      </p:sp>
      <p:sp>
        <p:nvSpPr>
          <p:cNvPr id="33" name="Oval 32"/>
          <p:cNvSpPr/>
          <p:nvPr/>
        </p:nvSpPr>
        <p:spPr>
          <a:xfrm>
            <a:off x="4091482" y="38770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121658" y="394289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996946" y="408736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GalleryService.getGalleryDetail(id)</a:t>
            </a:r>
          </a:p>
        </p:txBody>
      </p:sp>
      <p:sp>
        <p:nvSpPr>
          <p:cNvPr id="36" name="Oval 35"/>
          <p:cNvSpPr/>
          <p:nvPr/>
        </p:nvSpPr>
        <p:spPr>
          <a:xfrm>
            <a:off x="4091482" y="438912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121658" y="445495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996946" y="459943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S3FileService.getPresignedUrl(cover / thumbnails)</a:t>
            </a:r>
          </a:p>
        </p:txBody>
      </p:sp>
      <p:pic>
        <p:nvPicPr>
          <p:cNvPr id="39" name="Picture 38" descr="스크린샷 2026-05-24 202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970" y="4567428"/>
            <a:ext cx="365760" cy="3657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863090" y="4951476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700" b="0" i="0">
                <a:solidFill>
                  <a:srgbClr val="E25444"/>
                </a:solidFill>
              </a:rPr>
              <a:t>Amazon S3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11730" y="4750308"/>
            <a:ext cx="585216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091482" y="490118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121658" y="496702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996946" y="511149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GalleryAPIController.detail(id)</a:t>
            </a:r>
          </a:p>
        </p:txBody>
      </p:sp>
      <p:sp>
        <p:nvSpPr>
          <p:cNvPr id="45" name="Oval 44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service.js</a:t>
            </a:r>
          </a:p>
        </p:txBody>
      </p:sp>
      <p:sp>
        <p:nvSpPr>
          <p:cNvPr id="49" name="Oval 48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222742" y="2377440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gallery-detail.html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Gallery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Gallery
Detail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Gallery Detail — 2/2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Oval 12"/>
          <p:cNvSpPr/>
          <p:nvPr/>
        </p:nvSpPr>
        <p:spPr>
          <a:xfrm>
            <a:off x="4091482" y="131673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121658" y="1382572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975354" y="1435608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from previous Gallery Detail step</a:t>
            </a:r>
          </a:p>
        </p:txBody>
      </p:sp>
      <p:sp>
        <p:nvSpPr>
          <p:cNvPr id="20" name="Oval 19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Gallery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Gallery
Update
1/2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Gallery Update — validate &amp; save cover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gallery-register.html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POST /api/galleries/{id}/edit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GalleryAPIController.update(id, memberId)</a:t>
            </a:r>
          </a:p>
        </p:txBody>
      </p:sp>
      <p:sp>
        <p:nvSpPr>
          <p:cNvPr id="21" name="Oval 20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GalleryService.update()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9522" y="2606040"/>
            <a:ext cx="136016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Transactional</a:t>
            </a:r>
          </a:p>
        </p:txBody>
      </p:sp>
      <p:sp>
        <p:nvSpPr>
          <p:cNvPr id="25" name="Oval 24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3033522" y="3063240"/>
            <a:ext cx="2176272" cy="56692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750" b="0" i="0">
                <a:solidFill>
                  <a:srgbClr val="111111"/>
                </a:solidFill>
              </a:rPr>
              <a:t>validateGalleryOwner
(id, memberId)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9474" y="326166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4657" y="326166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No</a:t>
            </a:r>
          </a:p>
        </p:txBody>
      </p:sp>
      <p:sp>
        <p:nvSpPr>
          <p:cNvPr id="30" name="Oval 29"/>
          <p:cNvSpPr/>
          <p:nvPr/>
        </p:nvSpPr>
        <p:spPr>
          <a:xfrm>
            <a:off x="4091482" y="363016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69600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6946" y="384048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S3FileService.upload("galleries", coverFile)</a:t>
            </a:r>
          </a:p>
        </p:txBody>
      </p:sp>
      <p:pic>
        <p:nvPicPr>
          <p:cNvPr id="33" name="Picture 32" descr="스크린샷 2026-05-24 202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70" y="3808476"/>
            <a:ext cx="365760" cy="365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863090" y="4192524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700" b="0" i="0">
                <a:solidFill>
                  <a:srgbClr val="E25444"/>
                </a:solidFill>
              </a:rPr>
              <a:t>Amazon S3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11730" y="3991356"/>
            <a:ext cx="585216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091482" y="414223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121658" y="420806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996946" y="435254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GalleryMapper.xml</a:t>
            </a:r>
          </a:p>
        </p:txBody>
      </p:sp>
      <p:pic>
        <p:nvPicPr>
          <p:cNvPr id="39" name="Picture 38" descr="스크린샷 2026-05-24 2019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114" y="4329684"/>
            <a:ext cx="347472" cy="34747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570482" y="4704588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tbl_gallery
AWS S3 Bucket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02586" y="4503420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091482" y="465429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121658" y="472013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996946" y="486460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GalleryDAO.update(id, requestDTO)</a:t>
            </a:r>
          </a:p>
        </p:txBody>
      </p:sp>
      <p:sp>
        <p:nvSpPr>
          <p:cNvPr id="45" name="Oval 44"/>
          <p:cNvSpPr/>
          <p:nvPr/>
        </p:nvSpPr>
        <p:spPr>
          <a:xfrm>
            <a:off x="4091482" y="516636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121658" y="523219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4091482" y="537667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121658" y="5442508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975354" y="5495544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gallery-register.js</a:t>
            </a:r>
          </a:p>
        </p:txBody>
      </p:sp>
      <p:sp>
        <p:nvSpPr>
          <p:cNvPr id="54" name="Oval 53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GalleryUpdateRequestDTO</a:t>
            </a:r>
          </a:p>
        </p:txBody>
      </p:sp>
      <p:sp>
        <p:nvSpPr>
          <p:cNvPr id="57" name="Oval 56"/>
          <p:cNvSpPr/>
          <p:nvPr/>
        </p:nvSpPr>
        <p:spPr>
          <a:xfrm>
            <a:off x="9317278" y="26791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347454" y="27450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8222742" y="28895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on next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Gallery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Gallery
Update
2/2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Gallery Update — work links &amp; tags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GalleryService.update() continued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96946" y="182880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GalleryMapper.xml</a:t>
            </a:r>
          </a:p>
        </p:txBody>
      </p:sp>
      <p:pic>
        <p:nvPicPr>
          <p:cNvPr id="17" name="Picture 16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1805940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70482" y="2180844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tbl_gallery_work
tbl_gallery_tag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02586" y="1979676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091482" y="213055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121658" y="219638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96946" y="234086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GalleryDAO.deleteWorkLinks()</a:t>
            </a:r>
          </a:p>
        </p:txBody>
      </p:sp>
      <p:sp>
        <p:nvSpPr>
          <p:cNvPr id="23" name="Oval 22"/>
          <p:cNvSpPr/>
          <p:nvPr/>
        </p:nvSpPr>
        <p:spPr>
          <a:xfrm>
            <a:off x="4091482" y="264261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121658" y="270845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96946" y="285292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GalleryDAO.saveWorkLink(...)</a:t>
            </a:r>
          </a:p>
        </p:txBody>
      </p:sp>
      <p:sp>
        <p:nvSpPr>
          <p:cNvPr id="26" name="Oval 25"/>
          <p:cNvSpPr/>
          <p:nvPr/>
        </p:nvSpPr>
        <p:spPr>
          <a:xfrm>
            <a:off x="4091482" y="315468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121658" y="322051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96946" y="336499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GalleryDAO.deleteTagsByGalleryId()</a:t>
            </a:r>
          </a:p>
        </p:txBody>
      </p:sp>
      <p:sp>
        <p:nvSpPr>
          <p:cNvPr id="29" name="Oval 28"/>
          <p:cNvSpPr/>
          <p:nvPr/>
        </p:nvSpPr>
        <p:spPr>
          <a:xfrm>
            <a:off x="4091482" y="366674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121658" y="373258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996946" y="387705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GalleryDAO.saveTag(...)</a:t>
            </a:r>
          </a:p>
        </p:txBody>
      </p:sp>
      <p:sp>
        <p:nvSpPr>
          <p:cNvPr id="32" name="Oval 31"/>
          <p:cNvSpPr/>
          <p:nvPr/>
        </p:nvSpPr>
        <p:spPr>
          <a:xfrm>
            <a:off x="4091482" y="417880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121658" y="424464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96946" y="438912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GalleryDAO.updateWorkCount(id)</a:t>
            </a:r>
          </a:p>
        </p:txBody>
      </p:sp>
      <p:sp>
        <p:nvSpPr>
          <p:cNvPr id="35" name="Oval 34"/>
          <p:cNvSpPr/>
          <p:nvPr/>
        </p:nvSpPr>
        <p:spPr>
          <a:xfrm>
            <a:off x="4091482" y="469087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121658" y="475670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091482" y="490118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121658" y="4967020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975354" y="502005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222742" y="186537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gallery-detail.html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Gallery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Gallery
Delete
1/2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Gallery Delete — validate &amp; collect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gallery-detail.html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DELETE /api/galleries/{id}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GalleryAPIController.delete(id, memberId)</a:t>
            </a:r>
          </a:p>
        </p:txBody>
      </p:sp>
      <p:sp>
        <p:nvSpPr>
          <p:cNvPr id="21" name="Oval 20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GalleryService.delete()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9522" y="2606040"/>
            <a:ext cx="136016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Transactional</a:t>
            </a:r>
          </a:p>
        </p:txBody>
      </p:sp>
      <p:sp>
        <p:nvSpPr>
          <p:cNvPr id="25" name="Oval 24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3033522" y="3063240"/>
            <a:ext cx="2176272" cy="56692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750" b="0" i="0">
                <a:solidFill>
                  <a:srgbClr val="111111"/>
                </a:solidFill>
              </a:rPr>
              <a:t>validateGalleryOwner
(id, memberId)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9474" y="326166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4657" y="326166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No</a:t>
            </a:r>
          </a:p>
        </p:txBody>
      </p:sp>
      <p:sp>
        <p:nvSpPr>
          <p:cNvPr id="30" name="Oval 29"/>
          <p:cNvSpPr/>
          <p:nvPr/>
        </p:nvSpPr>
        <p:spPr>
          <a:xfrm>
            <a:off x="4091482" y="363016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69600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6946" y="384048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GalleryMapper.xml  +  WorkMapper.xml</a:t>
            </a:r>
          </a:p>
        </p:txBody>
      </p:sp>
      <p:pic>
        <p:nvPicPr>
          <p:cNvPr id="33" name="Picture 32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3817620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70482" y="4192524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tbl_gallery
tbl_gallery_work
tbl_work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02586" y="3991356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091482" y="414223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121658" y="420806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996946" y="435254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GalleryDAO.findWorkIdsByGalleryId(id)</a:t>
            </a:r>
          </a:p>
        </p:txBody>
      </p:sp>
      <p:sp>
        <p:nvSpPr>
          <p:cNvPr id="39" name="Oval 38"/>
          <p:cNvSpPr/>
          <p:nvPr/>
        </p:nvSpPr>
        <p:spPr>
          <a:xfrm>
            <a:off x="4091482" y="465429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121658" y="472013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091482" y="486460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4121658" y="4930444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975354" y="4983480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on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Gallery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Gallery
Delete
2/2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Gallery Delete — child work cleanup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GalleryService.delete() continued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96946" y="182880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GalleryMapper.xml  +  WorkMapper.xml</a:t>
            </a:r>
          </a:p>
        </p:txBody>
      </p:sp>
      <p:pic>
        <p:nvPicPr>
          <p:cNvPr id="17" name="Picture 16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1805940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70482" y="2180844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tbl_gallery
tbl_gallery_work
tbl_work
tbl_work_file
tbl_work_tag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02586" y="1979676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091482" y="213055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121658" y="219638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96946" y="234086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workDAO.deleteFilesByWorkId(workId)</a:t>
            </a:r>
          </a:p>
        </p:txBody>
      </p:sp>
      <p:sp>
        <p:nvSpPr>
          <p:cNvPr id="23" name="Oval 22"/>
          <p:cNvSpPr/>
          <p:nvPr/>
        </p:nvSpPr>
        <p:spPr>
          <a:xfrm>
            <a:off x="4091482" y="264261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121658" y="270845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96946" y="285292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workDAO.deleteTagsByWorkId(workId)</a:t>
            </a:r>
          </a:p>
        </p:txBody>
      </p:sp>
      <p:sp>
        <p:nvSpPr>
          <p:cNvPr id="26" name="Oval 25"/>
          <p:cNvSpPr/>
          <p:nvPr/>
        </p:nvSpPr>
        <p:spPr>
          <a:xfrm>
            <a:off x="4091482" y="315468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121658" y="322051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96946" y="336499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galleryDAO.deleteWorkLinkByWorkId(workId)</a:t>
            </a:r>
          </a:p>
        </p:txBody>
      </p:sp>
      <p:sp>
        <p:nvSpPr>
          <p:cNvPr id="29" name="Oval 28"/>
          <p:cNvSpPr/>
          <p:nvPr/>
        </p:nvSpPr>
        <p:spPr>
          <a:xfrm>
            <a:off x="4091482" y="366674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121658" y="373258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996946" y="387705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workDAO.delete(workId)</a:t>
            </a:r>
          </a:p>
        </p:txBody>
      </p:sp>
      <p:sp>
        <p:nvSpPr>
          <p:cNvPr id="32" name="Oval 31"/>
          <p:cNvSpPr/>
          <p:nvPr/>
        </p:nvSpPr>
        <p:spPr>
          <a:xfrm>
            <a:off x="4091482" y="417880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121658" y="424464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96946" y="438912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galleryDAO.deleteWorkLinksByGalleryId(id)</a:t>
            </a:r>
          </a:p>
        </p:txBody>
      </p:sp>
      <p:sp>
        <p:nvSpPr>
          <p:cNvPr id="35" name="Oval 34"/>
          <p:cNvSpPr/>
          <p:nvPr/>
        </p:nvSpPr>
        <p:spPr>
          <a:xfrm>
            <a:off x="4091482" y="469087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121658" y="475670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996946" y="490118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galleryDAO.delete(id)</a:t>
            </a:r>
          </a:p>
        </p:txBody>
      </p:sp>
      <p:sp>
        <p:nvSpPr>
          <p:cNvPr id="38" name="Oval 37"/>
          <p:cNvSpPr/>
          <p:nvPr/>
        </p:nvSpPr>
        <p:spPr>
          <a:xfrm>
            <a:off x="4091482" y="520293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121658" y="526877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091482" y="541324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4121658" y="5479084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975354" y="5532120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222742" y="186537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gallery-list.html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Work
Create
1/2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Work Create — save work &amp;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work-register.html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POST /api/works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WorkMapper.xml  +  AuctionMapper.xml</a:t>
            </a:r>
          </a:p>
        </p:txBody>
      </p:sp>
      <p:pic>
        <p:nvPicPr>
          <p:cNvPr id="21" name="Picture 20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2016252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0482" y="2391156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tbl_work
tbl_work_file
AWS S3 Bucket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2586" y="2189988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3033522" y="2551176"/>
            <a:ext cx="2176272" cy="56692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750" b="0" i="0">
                <a:solidFill>
                  <a:srgbClr val="111111"/>
                </a:solidFill>
              </a:rPr>
              <a:t>validateGalleryOwner
(galleryId, memberId)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49474" y="2749600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4657" y="2749600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No</a:t>
            </a:r>
          </a:p>
        </p:txBody>
      </p:sp>
      <p:sp>
        <p:nvSpPr>
          <p:cNvPr id="29" name="Oval 28"/>
          <p:cNvSpPr/>
          <p:nvPr/>
        </p:nvSpPr>
        <p:spPr>
          <a:xfrm>
            <a:off x="4091482" y="311810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121658" y="318394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996946" y="332841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workDAO.save(workDTO)</a:t>
            </a:r>
          </a:p>
        </p:txBody>
      </p:sp>
      <p:sp>
        <p:nvSpPr>
          <p:cNvPr id="32" name="Oval 31"/>
          <p:cNvSpPr/>
          <p:nvPr/>
        </p:nvSpPr>
        <p:spPr>
          <a:xfrm>
            <a:off x="4091482" y="363016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121658" y="369600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96946" y="384048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S3FileService.upload("works", mediaFile / thumbnailFile)</a:t>
            </a:r>
          </a:p>
        </p:txBody>
      </p:sp>
      <p:pic>
        <p:nvPicPr>
          <p:cNvPr id="35" name="Picture 34" descr="스크린샷 2026-05-24 202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970" y="3808476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863090" y="4192524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700" b="0" i="0">
                <a:solidFill>
                  <a:srgbClr val="E25444"/>
                </a:solidFill>
              </a:rPr>
              <a:t>Amazon S3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411730" y="3991356"/>
            <a:ext cx="585216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091482" y="414223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121658" y="420806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96946" y="435254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workDAO.saveFile(WorkFileVO)</a:t>
            </a:r>
          </a:p>
        </p:txBody>
      </p:sp>
      <p:sp>
        <p:nvSpPr>
          <p:cNvPr id="41" name="Oval 40"/>
          <p:cNvSpPr/>
          <p:nvPr/>
        </p:nvSpPr>
        <p:spPr>
          <a:xfrm>
            <a:off x="4091482" y="465429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4121658" y="472013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996946" y="486460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saveExistingFiles(workId, files)</a:t>
            </a:r>
          </a:p>
        </p:txBody>
      </p:sp>
      <p:sp>
        <p:nvSpPr>
          <p:cNvPr id="44" name="Oval 43"/>
          <p:cNvSpPr/>
          <p:nvPr/>
        </p:nvSpPr>
        <p:spPr>
          <a:xfrm>
            <a:off x="4091482" y="516636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121658" y="523219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091482" y="537667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4121658" y="5442508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975354" y="5495544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work-register.js</a:t>
            </a:r>
          </a:p>
        </p:txBody>
      </p:sp>
      <p:sp>
        <p:nvSpPr>
          <p:cNvPr id="53" name="Oval 52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WorkCreateRequestDTO</a:t>
            </a:r>
          </a:p>
        </p:txBody>
      </p:sp>
      <p:sp>
        <p:nvSpPr>
          <p:cNvPr id="56" name="Oval 55"/>
          <p:cNvSpPr/>
          <p:nvPr/>
        </p:nvSpPr>
        <p:spPr>
          <a:xfrm>
            <a:off x="9317278" y="26791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347454" y="27450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8222742" y="28895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on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Work
Create
2/2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Work Create — tags, gallery, auction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WorkService.write() continued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9522" y="1371600"/>
            <a:ext cx="136016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Transactional</a:t>
            </a:r>
          </a:p>
        </p:txBody>
      </p:sp>
      <p:sp>
        <p:nvSpPr>
          <p:cNvPr id="15" name="Oval 14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96946" y="182880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WorkMapper.xml  +  AuctionMapper.xml</a:t>
            </a:r>
          </a:p>
        </p:txBody>
      </p:sp>
      <p:pic>
        <p:nvPicPr>
          <p:cNvPr id="18" name="Picture 17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1805940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0482" y="2180844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tbl_work_tag
tbl_gallery_work
tbl_auction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02586" y="1979676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091482" y="213055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19638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34086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saveTags(workId, tagIds, tagNames)</a:t>
            </a:r>
          </a:p>
        </p:txBody>
      </p:sp>
      <p:sp>
        <p:nvSpPr>
          <p:cNvPr id="24" name="Oval 23"/>
          <p:cNvSpPr/>
          <p:nvPr/>
        </p:nvSpPr>
        <p:spPr>
          <a:xfrm>
            <a:off x="4091482" y="264261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21658" y="270845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996946" y="285292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saveGalleryLink(galleryId, workId)</a:t>
            </a:r>
          </a:p>
        </p:txBody>
      </p:sp>
      <p:sp>
        <p:nvSpPr>
          <p:cNvPr id="27" name="Oval 26"/>
          <p:cNvSpPr/>
          <p:nvPr/>
        </p:nvSpPr>
        <p:spPr>
          <a:xfrm>
            <a:off x="4091482" y="315468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121658" y="322051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996946" y="336499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saveAuctionIfRequested(workId, sellerId, ...)</a:t>
            </a:r>
          </a:p>
        </p:txBody>
      </p:sp>
      <p:sp>
        <p:nvSpPr>
          <p:cNvPr id="30" name="Oval 29"/>
          <p:cNvSpPr/>
          <p:nvPr/>
        </p:nvSpPr>
        <p:spPr>
          <a:xfrm>
            <a:off x="4091482" y="366674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73258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6946" y="387705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WorkAPIController.write(memberId)</a:t>
            </a:r>
          </a:p>
        </p:txBody>
      </p:sp>
      <p:sp>
        <p:nvSpPr>
          <p:cNvPr id="33" name="Oval 32"/>
          <p:cNvSpPr/>
          <p:nvPr/>
        </p:nvSpPr>
        <p:spPr>
          <a:xfrm>
            <a:off x="4091482" y="417880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121658" y="424464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091482" y="438912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121658" y="4454956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75354" y="4507992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222742" y="186537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work-detail.html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Work
Feed / Detail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Work Feed &amp; Detail — 1/2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workdetail.html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GET /api/works/feed  |  GET /api/works/{id}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WorkMapper.xml</a:t>
            </a:r>
          </a:p>
        </p:txBody>
      </p:sp>
      <p:pic>
        <p:nvPicPr>
          <p:cNvPr id="21" name="Picture 20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2016252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0482" y="2391156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tbl_work
tbl_work_file
tbl_work_tag
tbl_comment
AWS S3 Bucket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2586" y="2189988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WorkDAO.findFeed(searchDTO)</a:t>
            </a:r>
          </a:p>
        </p:txBody>
      </p:sp>
      <p:sp>
        <p:nvSpPr>
          <p:cNvPr id="27" name="Oval 26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996946" y="30632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WorkDAO.findDetailById(id)</a:t>
            </a:r>
          </a:p>
        </p:txBody>
      </p:sp>
      <p:sp>
        <p:nvSpPr>
          <p:cNvPr id="30" name="Oval 29"/>
          <p:cNvSpPr/>
          <p:nvPr/>
        </p:nvSpPr>
        <p:spPr>
          <a:xfrm>
            <a:off x="4091482" y="33649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4308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6946" y="35753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WorkDAO.findFilesByWorkId(id)</a:t>
            </a:r>
          </a:p>
        </p:txBody>
      </p:sp>
      <p:sp>
        <p:nvSpPr>
          <p:cNvPr id="33" name="Oval 32"/>
          <p:cNvSpPr/>
          <p:nvPr/>
        </p:nvSpPr>
        <p:spPr>
          <a:xfrm>
            <a:off x="4091482" y="38770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121658" y="394289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996946" y="408736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WorkDAO.findTagsByWorkId(id)</a:t>
            </a:r>
          </a:p>
        </p:txBody>
      </p:sp>
      <p:sp>
        <p:nvSpPr>
          <p:cNvPr id="36" name="Oval 35"/>
          <p:cNvSpPr/>
          <p:nvPr/>
        </p:nvSpPr>
        <p:spPr>
          <a:xfrm>
            <a:off x="4091482" y="438912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121658" y="445495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996946" y="459943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WorkService.getWorkList() / getWorkDetail()</a:t>
            </a:r>
          </a:p>
        </p:txBody>
      </p:sp>
      <p:sp>
        <p:nvSpPr>
          <p:cNvPr id="39" name="Oval 38"/>
          <p:cNvSpPr/>
          <p:nvPr/>
        </p:nvSpPr>
        <p:spPr>
          <a:xfrm>
            <a:off x="4091482" y="490118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121658" y="496702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996946" y="511149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applyFileUrls() → S3 presigned URL</a:t>
            </a:r>
          </a:p>
        </p:txBody>
      </p:sp>
      <p:pic>
        <p:nvPicPr>
          <p:cNvPr id="42" name="Picture 41" descr="스크린샷 2026-05-24 202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970" y="5079492"/>
            <a:ext cx="365760" cy="3657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863090" y="5463540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700" b="0" i="0">
                <a:solidFill>
                  <a:srgbClr val="E25444"/>
                </a:solidFill>
              </a:rPr>
              <a:t>Amazon S3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411730" y="5262372"/>
            <a:ext cx="585216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workdetail.js</a:t>
            </a:r>
          </a:p>
        </p:txBody>
      </p:sp>
      <p:sp>
        <p:nvSpPr>
          <p:cNvPr id="49" name="Oval 48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222742" y="2377440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work-feed.html  /  work-detail.html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Work
Feed / Detail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Work Feed &amp; Detail — 2/2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WorkAPIController.feed() / detail()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975354" y="1947672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from previous Work Feed &amp; Detail step</a:t>
            </a:r>
          </a:p>
        </p:txBody>
      </p:sp>
      <p:sp>
        <p:nvSpPr>
          <p:cNvPr id="23" name="Oval 22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Work
Update
1/2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Work Update — validate &amp; replace files — 1/2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work-register.html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POST /api/works/{id}/edit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WorkAPIController.updateFromForm(id, memberId)</a:t>
            </a:r>
          </a:p>
        </p:txBody>
      </p:sp>
      <p:sp>
        <p:nvSpPr>
          <p:cNvPr id="21" name="Oval 20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WorkService.update()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9522" y="2606040"/>
            <a:ext cx="136016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Transactional</a:t>
            </a:r>
          </a:p>
        </p:txBody>
      </p:sp>
      <p:sp>
        <p:nvSpPr>
          <p:cNvPr id="25" name="Oval 24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3033522" y="3063240"/>
            <a:ext cx="2176272" cy="56692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750" b="0" i="0">
                <a:solidFill>
                  <a:srgbClr val="111111"/>
                </a:solidFill>
              </a:rPr>
              <a:t>validateWorkOwner
+ validateGalleryOwner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9474" y="326166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4657" y="326166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No</a:t>
            </a:r>
          </a:p>
        </p:txBody>
      </p:sp>
      <p:sp>
        <p:nvSpPr>
          <p:cNvPr id="30" name="Oval 29"/>
          <p:cNvSpPr/>
          <p:nvPr/>
        </p:nvSpPr>
        <p:spPr>
          <a:xfrm>
            <a:off x="4091482" y="363016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69600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6946" y="384048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WorkMapper + GalleryMapper + AuctionMapper</a:t>
            </a:r>
          </a:p>
        </p:txBody>
      </p:sp>
      <p:pic>
        <p:nvPicPr>
          <p:cNvPr id="33" name="Picture 32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3817620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70482" y="4192524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tbl_work
tbl_work_file
AWS S3 Bucket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02586" y="3991356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091482" y="414223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121658" y="420806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996946" y="435254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workDAO.setWork(workVO)</a:t>
            </a:r>
          </a:p>
        </p:txBody>
      </p:sp>
      <p:sp>
        <p:nvSpPr>
          <p:cNvPr id="39" name="Oval 38"/>
          <p:cNvSpPr/>
          <p:nvPr/>
        </p:nvSpPr>
        <p:spPr>
          <a:xfrm>
            <a:off x="4091482" y="465429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121658" y="472013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996946" y="486460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workDAO.deleteFiles + deleteTags</a:t>
            </a:r>
          </a:p>
        </p:txBody>
      </p:sp>
      <p:sp>
        <p:nvSpPr>
          <p:cNvPr id="42" name="Oval 41"/>
          <p:cNvSpPr/>
          <p:nvPr/>
        </p:nvSpPr>
        <p:spPr>
          <a:xfrm>
            <a:off x="4091482" y="516636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121658" y="523219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996946" y="537667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S3FileService.upload("works", mediaFile / thumbnailFile)</a:t>
            </a:r>
          </a:p>
        </p:txBody>
      </p:sp>
      <p:pic>
        <p:nvPicPr>
          <p:cNvPr id="45" name="Picture 44" descr="스크린샷 2026-05-24 202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970" y="5344668"/>
            <a:ext cx="365760" cy="36576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863090" y="5728716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700" b="0" i="0">
                <a:solidFill>
                  <a:srgbClr val="E25444"/>
                </a:solidFill>
              </a:rPr>
              <a:t>Amazon S3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411730" y="5527548"/>
            <a:ext cx="585216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work-register.js</a:t>
            </a:r>
          </a:p>
        </p:txBody>
      </p:sp>
      <p:sp>
        <p:nvSpPr>
          <p:cNvPr id="52" name="Oval 51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WorkUpdateRequestDTO</a:t>
            </a:r>
          </a:p>
        </p:txBody>
      </p:sp>
      <p:sp>
        <p:nvSpPr>
          <p:cNvPr id="55" name="Oval 54"/>
          <p:cNvSpPr/>
          <p:nvPr/>
        </p:nvSpPr>
        <p:spPr>
          <a:xfrm>
            <a:off x="9317278" y="26791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347454" y="27450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8222742" y="28895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on next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Work
Update
1/2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Work Update — validate &amp; replace files — 2/2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workDAO.saveFile(WorkFileVO)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975354" y="1947672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from previous Work Update — validate &amp; replace files step</a:t>
            </a:r>
          </a:p>
        </p:txBody>
      </p:sp>
      <p:sp>
        <p:nvSpPr>
          <p:cNvPr id="23" name="Oval 22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Work
Update
2/2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Work Update — tags, gallery, auction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WorkService.update() continued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9522" y="1371600"/>
            <a:ext cx="136016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Transactional</a:t>
            </a:r>
          </a:p>
        </p:txBody>
      </p:sp>
      <p:sp>
        <p:nvSpPr>
          <p:cNvPr id="15" name="Oval 14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996946" y="182880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WorkMapper + GalleryMapper + AuctionMapper</a:t>
            </a:r>
          </a:p>
        </p:txBody>
      </p:sp>
      <p:pic>
        <p:nvPicPr>
          <p:cNvPr id="18" name="Picture 17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1805940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0482" y="2180844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tbl_work_tag
tbl_gallery_work
tbl_auction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02586" y="1979676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091482" y="213055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19638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34086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saveTags(workId, tagIds, tagNames)</a:t>
            </a:r>
          </a:p>
        </p:txBody>
      </p:sp>
      <p:sp>
        <p:nvSpPr>
          <p:cNvPr id="24" name="Oval 23"/>
          <p:cNvSpPr/>
          <p:nvPr/>
        </p:nvSpPr>
        <p:spPr>
          <a:xfrm>
            <a:off x="4091482" y="264261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21658" y="270845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996946" y="285292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updateGalleryLink(previousGalleryId, galleryId, workId)</a:t>
            </a:r>
          </a:p>
        </p:txBody>
      </p:sp>
      <p:sp>
        <p:nvSpPr>
          <p:cNvPr id="27" name="Oval 26"/>
          <p:cNvSpPr/>
          <p:nvPr/>
        </p:nvSpPr>
        <p:spPr>
          <a:xfrm>
            <a:off x="4091482" y="315468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121658" y="322051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996946" y="336499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saveAuctionIfRequested(workId, ...)</a:t>
            </a:r>
          </a:p>
        </p:txBody>
      </p:sp>
      <p:sp>
        <p:nvSpPr>
          <p:cNvPr id="30" name="Oval 29"/>
          <p:cNvSpPr/>
          <p:nvPr/>
        </p:nvSpPr>
        <p:spPr>
          <a:xfrm>
            <a:off x="4091482" y="366674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73258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091482" y="38770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121658" y="3942892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975354" y="3995928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222742" y="186537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work-detail.html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Work
Delete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Work Delete — 1/2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work-detail.html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DELETE /api/works/{id}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WorkAPIController.delete(id)</a:t>
            </a:r>
          </a:p>
        </p:txBody>
      </p:sp>
      <p:sp>
        <p:nvSpPr>
          <p:cNvPr id="21" name="Oval 20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WorkService.delete(id)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9522" y="2606040"/>
            <a:ext cx="136016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Transactional</a:t>
            </a:r>
          </a:p>
        </p:txBody>
      </p:sp>
      <p:sp>
        <p:nvSpPr>
          <p:cNvPr id="25" name="Oval 24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996946" y="30632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WorkMapper.xml  +  GalleryMapper.xml</a:t>
            </a:r>
          </a:p>
        </p:txBody>
      </p:sp>
      <p:pic>
        <p:nvPicPr>
          <p:cNvPr id="28" name="Picture 27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3040380"/>
            <a:ext cx="347472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70482" y="3415284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tbl_work
tbl_work_file
tbl_work_tag
tbl_gallery_work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02586" y="3214116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091482" y="33649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121658" y="34308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996946" y="35753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getWorkDetail(id)</a:t>
            </a:r>
          </a:p>
        </p:txBody>
      </p:sp>
      <p:sp>
        <p:nvSpPr>
          <p:cNvPr id="34" name="Oval 33"/>
          <p:cNvSpPr/>
          <p:nvPr/>
        </p:nvSpPr>
        <p:spPr>
          <a:xfrm>
            <a:off x="4091482" y="38770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121658" y="394289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996946" y="408736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workDAO.deleteFiles + deleteTags</a:t>
            </a:r>
          </a:p>
        </p:txBody>
      </p:sp>
      <p:sp>
        <p:nvSpPr>
          <p:cNvPr id="37" name="Oval 36"/>
          <p:cNvSpPr/>
          <p:nvPr/>
        </p:nvSpPr>
        <p:spPr>
          <a:xfrm>
            <a:off x="4091482" y="438912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121658" y="445495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996946" y="459943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galleryDAO.deleteWorkLinkByWorkId(id)</a:t>
            </a:r>
          </a:p>
        </p:txBody>
      </p:sp>
      <p:sp>
        <p:nvSpPr>
          <p:cNvPr id="40" name="Oval 39"/>
          <p:cNvSpPr/>
          <p:nvPr/>
        </p:nvSpPr>
        <p:spPr>
          <a:xfrm>
            <a:off x="4091482" y="490118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4121658" y="496702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996946" y="511149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galleryDAO.updateWorkCount(galleryId)</a:t>
            </a:r>
          </a:p>
        </p:txBody>
      </p:sp>
      <p:sp>
        <p:nvSpPr>
          <p:cNvPr id="43" name="Oval 42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222742" y="186537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work-feed.html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Work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Work
Delete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Work Delete — 2/2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workDAO.delete(id)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975354" y="1947672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from previous Work Delete step</a:t>
            </a:r>
          </a:p>
        </p:txBody>
      </p:sp>
      <p:sp>
        <p:nvSpPr>
          <p:cNvPr id="23" name="Oval 22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AI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AI
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AI Image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work-register.html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POST /api/works/ai/image/pipeline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WorkAPIController.runImagePipeline()</a:t>
            </a:r>
          </a:p>
        </p:txBody>
      </p:sp>
      <p:sp>
        <p:nvSpPr>
          <p:cNvPr id="21" name="Oval 20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A7A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FastAPI  /api/ai/image/pipeline</a:t>
            </a:r>
          </a:p>
        </p:txBody>
      </p:sp>
      <p:sp>
        <p:nvSpPr>
          <p:cNvPr id="24" name="Oval 23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996946" y="30632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AiService._upload_image_to_s3(result)</a:t>
            </a:r>
          </a:p>
        </p:txBody>
      </p:sp>
      <p:pic>
        <p:nvPicPr>
          <p:cNvPr id="27" name="Picture 26" descr="스크린샷 2026-05-24 202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70" y="3031236"/>
            <a:ext cx="365760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63090" y="3415284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700" b="0" i="0">
                <a:solidFill>
                  <a:srgbClr val="E25444"/>
                </a:solidFill>
              </a:rPr>
              <a:t>Amazon S3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11730" y="3214116"/>
            <a:ext cx="585216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091482" y="33649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4308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6946" y="35753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Return image_key + image_url</a:t>
            </a:r>
          </a:p>
        </p:txBody>
      </p:sp>
      <p:sp>
        <p:nvSpPr>
          <p:cNvPr id="33" name="Oval 32"/>
          <p:cNvSpPr/>
          <p:nvPr/>
        </p:nvSpPr>
        <p:spPr>
          <a:xfrm>
            <a:off x="4091482" y="38770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121658" y="394289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091482" y="408736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121658" y="4153204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75354" y="4206240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work-register.js</a:t>
            </a:r>
          </a:p>
        </p:txBody>
      </p:sp>
      <p:sp>
        <p:nvSpPr>
          <p:cNvPr id="42" name="Oval 41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AI prompt modal input</a:t>
            </a:r>
          </a:p>
        </p:txBody>
      </p:sp>
      <p:sp>
        <p:nvSpPr>
          <p:cNvPr id="45" name="Oval 44"/>
          <p:cNvSpPr/>
          <p:nvPr/>
        </p:nvSpPr>
        <p:spPr>
          <a:xfrm>
            <a:off x="9317278" y="26791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47454" y="27450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222742" y="28895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work-register.html  ← render image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AI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AI
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AI Price Prediction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work-register.html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POST /api/work/regression | /classification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FastAPI work_router</a:t>
            </a:r>
          </a:p>
        </p:txBody>
      </p:sp>
      <p:sp>
        <p:nvSpPr>
          <p:cNvPr id="21" name="Oval 20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A7A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regression_model.pkl
classification_model.pkl</a:t>
            </a:r>
          </a:p>
        </p:txBody>
      </p:sp>
      <p:sp>
        <p:nvSpPr>
          <p:cNvPr id="24" name="Oval 23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996946" y="30632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Regression / Classify response</a:t>
            </a:r>
          </a:p>
        </p:txBody>
      </p:sp>
      <p:sp>
        <p:nvSpPr>
          <p:cNvPr id="27" name="Oval 26"/>
          <p:cNvSpPr/>
          <p:nvPr/>
        </p:nvSpPr>
        <p:spPr>
          <a:xfrm>
            <a:off x="4091482" y="33649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121658" y="34308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091482" y="357530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121658" y="3641140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3975354" y="369417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work-register.js</a:t>
            </a:r>
          </a:p>
        </p:txBody>
      </p:sp>
      <p:sp>
        <p:nvSpPr>
          <p:cNvPr id="36" name="Oval 35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Render prediction result</a:t>
            </a:r>
          </a:p>
        </p:txBody>
      </p:sp>
      <p:sp>
        <p:nvSpPr>
          <p:cNvPr id="39" name="Oval 38"/>
          <p:cNvSpPr/>
          <p:nvPr/>
        </p:nvSpPr>
        <p:spPr>
          <a:xfrm>
            <a:off x="9317278" y="26791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347454" y="27450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222742" y="2889504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work-register.html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Payment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Payment
Flow
1/2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Bootpay PG Payment — receipt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pay.html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POST /api/payments/bootpay/confirm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PaymentAPIController.confirmBootpayPayment(userId)</a:t>
            </a:r>
          </a:p>
        </p:txBody>
      </p:sp>
      <p:sp>
        <p:nvSpPr>
          <p:cNvPr id="21" name="Oval 20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PaymentService.confirmBootpayPayment(buyerId)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9522" y="2606040"/>
            <a:ext cx="136016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Transactional</a:t>
            </a:r>
          </a:p>
        </p:txBody>
      </p:sp>
      <p:sp>
        <p:nvSpPr>
          <p:cNvPr id="25" name="Oval 24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996946" y="30632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paymentDAO.findRawById(paymentId)</a:t>
            </a:r>
          </a:p>
        </p:txBody>
      </p:sp>
      <p:sp>
        <p:nvSpPr>
          <p:cNvPr id="28" name="Oval 27"/>
          <p:cNvSpPr/>
          <p:nvPr/>
        </p:nvSpPr>
        <p:spPr>
          <a:xfrm>
            <a:off x="4091482" y="33649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4121658" y="34308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96946" y="35753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A7A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BootpayClient.getReceipt(receiptId)</a:t>
            </a:r>
          </a:p>
        </p:txBody>
      </p:sp>
      <p:sp>
        <p:nvSpPr>
          <p:cNvPr id="31" name="Oval 30"/>
          <p:cNvSpPr/>
          <p:nvPr/>
        </p:nvSpPr>
        <p:spPr>
          <a:xfrm>
            <a:off x="4091482" y="38770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121658" y="394289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mond 32"/>
          <p:cNvSpPr/>
          <p:nvPr/>
        </p:nvSpPr>
        <p:spPr>
          <a:xfrm>
            <a:off x="3033522" y="4087368"/>
            <a:ext cx="2176272" cy="56692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750" b="0" i="0">
                <a:solidFill>
                  <a:srgbClr val="111111"/>
                </a:solidFill>
              </a:rPr>
              <a:t>Validate price/status/order_id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9474" y="428579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4657" y="428579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No</a:t>
            </a:r>
          </a:p>
        </p:txBody>
      </p:sp>
      <p:sp>
        <p:nvSpPr>
          <p:cNvPr id="36" name="Oval 35"/>
          <p:cNvSpPr/>
          <p:nvPr/>
        </p:nvSpPr>
        <p:spPr>
          <a:xfrm>
            <a:off x="4091482" y="465429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121658" y="472013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091482" y="486460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121658" y="4930444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975354" y="4983480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pay.js</a:t>
            </a:r>
          </a:p>
        </p:txBody>
      </p:sp>
      <p:sp>
        <p:nvSpPr>
          <p:cNvPr id="45" name="Oval 44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A7A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Bootpay.requestPayment(...)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5318" y="243230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00" b="0" i="0">
                <a:solidFill>
                  <a:srgbClr val="1F4E79"/>
                </a:solidFill>
              </a:rPr>
              <a:t>Bootpay JS SDK</a:t>
            </a:r>
          </a:p>
        </p:txBody>
      </p:sp>
      <p:sp>
        <p:nvSpPr>
          <p:cNvPr id="49" name="Oval 48"/>
          <p:cNvSpPr/>
          <p:nvPr/>
        </p:nvSpPr>
        <p:spPr>
          <a:xfrm>
            <a:off x="9317278" y="26791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347454" y="27450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222742" y="28895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BootpayConfirmRequestDTO (paymentId, receiptId)</a:t>
            </a:r>
          </a:p>
        </p:txBody>
      </p:sp>
      <p:sp>
        <p:nvSpPr>
          <p:cNvPr id="52" name="Oval 51"/>
          <p:cNvSpPr/>
          <p:nvPr/>
        </p:nvSpPr>
        <p:spPr>
          <a:xfrm>
            <a:off x="9317278" y="31912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347454" y="325709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222742" y="340156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on next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Payment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Payment
Flow
2/2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Bootpay PG Payment — DB 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PaymentService.completePayment()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96946" y="182880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PaymentMapper + OrderMapper + WorkMapper</a:t>
            </a:r>
          </a:p>
        </p:txBody>
      </p:sp>
      <p:pic>
        <p:nvPicPr>
          <p:cNvPr id="17" name="Picture 16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1805940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70482" y="2180844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tbl_payment
tbl_order
tbl_work
tbl_gallery_work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02586" y="1979676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091482" y="213055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121658" y="219638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996946" y="234086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paymentDAO.completePayment()</a:t>
            </a:r>
          </a:p>
        </p:txBody>
      </p:sp>
      <p:sp>
        <p:nvSpPr>
          <p:cNvPr id="23" name="Oval 22"/>
          <p:cNvSpPr/>
          <p:nvPr/>
        </p:nvSpPr>
        <p:spPr>
          <a:xfrm>
            <a:off x="4091482" y="264261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121658" y="270845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96946" y="285292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orderDAO.updateStatus("PAID")</a:t>
            </a:r>
          </a:p>
        </p:txBody>
      </p:sp>
      <p:sp>
        <p:nvSpPr>
          <p:cNvPr id="26" name="Oval 25"/>
          <p:cNvSpPr/>
          <p:nvPr/>
        </p:nvSpPr>
        <p:spPr>
          <a:xfrm>
            <a:off x="4091482" y="315468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121658" y="322051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96946" y="336499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paymentDAO.updateOtherOpen...</a:t>
            </a:r>
          </a:p>
        </p:txBody>
      </p:sp>
      <p:sp>
        <p:nvSpPr>
          <p:cNvPr id="29" name="Oval 28"/>
          <p:cNvSpPr/>
          <p:nvPr/>
        </p:nvSpPr>
        <p:spPr>
          <a:xfrm>
            <a:off x="4091482" y="366674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121658" y="373258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996946" y="387705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orderDAO.updateOtherPending...</a:t>
            </a:r>
          </a:p>
        </p:txBody>
      </p:sp>
      <p:sp>
        <p:nvSpPr>
          <p:cNvPr id="32" name="Oval 31"/>
          <p:cNvSpPr/>
          <p:nvPr/>
        </p:nvSpPr>
        <p:spPr>
          <a:xfrm>
            <a:off x="4091482" y="417880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121658" y="424464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96946" y="438912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workDAO.updateStatus("SOLD")</a:t>
            </a:r>
          </a:p>
        </p:txBody>
      </p:sp>
      <p:sp>
        <p:nvSpPr>
          <p:cNvPr id="35" name="Oval 34"/>
          <p:cNvSpPr/>
          <p:nvPr/>
        </p:nvSpPr>
        <p:spPr>
          <a:xfrm>
            <a:off x="4091482" y="469087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121658" y="475670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996946" y="490118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galleryDAO.deleteWorkLinkByWorkId()</a:t>
            </a:r>
          </a:p>
        </p:txBody>
      </p:sp>
      <p:sp>
        <p:nvSpPr>
          <p:cNvPr id="38" name="Oval 37"/>
          <p:cNvSpPr/>
          <p:nvPr/>
        </p:nvSpPr>
        <p:spPr>
          <a:xfrm>
            <a:off x="4091482" y="520293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121658" y="526877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091482" y="541324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4121658" y="5479084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975354" y="5532120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222742" y="186537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payment-complete.html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Auction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Auction
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Auction 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workdetail.html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GET /api/auction/{workId}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AuctionMapper.xml</a:t>
            </a:r>
          </a:p>
        </p:txBody>
      </p:sp>
      <p:pic>
        <p:nvPicPr>
          <p:cNvPr id="21" name="Picture 20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2016252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0482" y="2391156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tbl_auction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2586" y="2189988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AuctionDAO.findActiveByWorkId(workId)</a:t>
            </a:r>
          </a:p>
        </p:txBody>
      </p:sp>
      <p:sp>
        <p:nvSpPr>
          <p:cNvPr id="27" name="Oval 26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996946" y="30632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AuctionService.getActiveAuctionByWorkId()</a:t>
            </a:r>
          </a:p>
        </p:txBody>
      </p:sp>
      <p:sp>
        <p:nvSpPr>
          <p:cNvPr id="30" name="Oval 29"/>
          <p:cNvSpPr/>
          <p:nvPr/>
        </p:nvSpPr>
        <p:spPr>
          <a:xfrm>
            <a:off x="4091482" y="33649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4308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6946" y="35753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AuctionController.getAuction(workId)</a:t>
            </a:r>
          </a:p>
        </p:txBody>
      </p:sp>
      <p:sp>
        <p:nvSpPr>
          <p:cNvPr id="33" name="Oval 32"/>
          <p:cNvSpPr/>
          <p:nvPr/>
        </p:nvSpPr>
        <p:spPr>
          <a:xfrm>
            <a:off x="4091482" y="387705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121658" y="394289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091482" y="408736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121658" y="4153204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75354" y="4206240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service.js + socket.js
event.js + layout.js</a:t>
            </a:r>
          </a:p>
        </p:txBody>
      </p:sp>
      <p:sp>
        <p:nvSpPr>
          <p:cNvPr id="42" name="Oval 41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work-detail.html  ← render auction UI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Auction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Auction
Bid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Auction Bid — WebSocket STOMP — 1/2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work-detail.html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15841" y="181965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950" b="1" i="0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810512"/>
            <a:ext cx="243001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POST /api/auction/{auctionId}/bid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96946" y="203911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AuctionController.placeBid(auctionId)</a:t>
            </a:r>
          </a:p>
        </p:txBody>
      </p:sp>
      <p:sp>
        <p:nvSpPr>
          <p:cNvPr id="21" name="Oval 20"/>
          <p:cNvSpPr/>
          <p:nvPr/>
        </p:nvSpPr>
        <p:spPr>
          <a:xfrm>
            <a:off x="4091482" y="23408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21658" y="24067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996946" y="25511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BidCommandService.placeBid(memberId)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9522" y="2606040"/>
            <a:ext cx="136016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Transactional</a:t>
            </a:r>
          </a:p>
        </p:txBody>
      </p:sp>
      <p:sp>
        <p:nvSpPr>
          <p:cNvPr id="25" name="Oval 24"/>
          <p:cNvSpPr/>
          <p:nvPr/>
        </p:nvSpPr>
        <p:spPr>
          <a:xfrm>
            <a:off x="4091482" y="28529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121658" y="29187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3033522" y="3063240"/>
            <a:ext cx="2176272" cy="566928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750" b="0" i="0">
                <a:solidFill>
                  <a:srgbClr val="111111"/>
                </a:solidFill>
              </a:rPr>
              <a:t>ACTIVE &amp;&amp; not expired
&amp;&amp; price ≥ minBid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9474" y="326166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4657" y="326166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111111"/>
                </a:solidFill>
              </a:rPr>
              <a:t>No</a:t>
            </a:r>
          </a:p>
        </p:txBody>
      </p:sp>
      <p:sp>
        <p:nvSpPr>
          <p:cNvPr id="30" name="Oval 29"/>
          <p:cNvSpPr/>
          <p:nvPr/>
        </p:nvSpPr>
        <p:spPr>
          <a:xfrm>
            <a:off x="4091482" y="363016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121658" y="369600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996946" y="384048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BidMapper.xml  +  AuctionMapper.xml</a:t>
            </a:r>
          </a:p>
        </p:txBody>
      </p:sp>
      <p:pic>
        <p:nvPicPr>
          <p:cNvPr id="33" name="Picture 32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3817620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70482" y="4192524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tbl_auction
tbl_bid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02586" y="3991356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091482" y="414223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121658" y="420806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996946" y="435254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bidDAO.clearPreviousWinning(auctionId)</a:t>
            </a:r>
          </a:p>
        </p:txBody>
      </p:sp>
      <p:sp>
        <p:nvSpPr>
          <p:cNvPr id="39" name="Oval 38"/>
          <p:cNvSpPr/>
          <p:nvPr/>
        </p:nvSpPr>
        <p:spPr>
          <a:xfrm>
            <a:off x="4091482" y="465429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121658" y="472013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996946" y="486460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bidDAO.save(bid)</a:t>
            </a:r>
          </a:p>
        </p:txBody>
      </p:sp>
      <p:sp>
        <p:nvSpPr>
          <p:cNvPr id="42" name="Oval 41"/>
          <p:cNvSpPr/>
          <p:nvPr/>
        </p:nvSpPr>
        <p:spPr>
          <a:xfrm>
            <a:off x="4091482" y="516636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121658" y="523219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996946" y="537667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auctionDAO.updateCurrentPrice(auctionId, bidPrice, uniqueBidderCount)</a:t>
            </a:r>
          </a:p>
        </p:txBody>
      </p:sp>
      <p:sp>
        <p:nvSpPr>
          <p:cNvPr id="45" name="Oval 44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service.js + event.js</a:t>
            </a:r>
          </a:p>
        </p:txBody>
      </p:sp>
      <p:sp>
        <p:nvSpPr>
          <p:cNvPr id="49" name="Oval 48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Receive BidResponseDTO</a:t>
            </a:r>
          </a:p>
        </p:txBody>
      </p:sp>
      <p:sp>
        <p:nvSpPr>
          <p:cNvPr id="52" name="Oval 51"/>
          <p:cNvSpPr/>
          <p:nvPr/>
        </p:nvSpPr>
        <p:spPr>
          <a:xfrm>
            <a:off x="9317278" y="267919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347454" y="274502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222742" y="288950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work-detail.html  ← update highest-bid UI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Auction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Auction
Bid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Auction Bid — WebSocket STOMP — 2/2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notificationService.createNotification(...)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91482" y="182880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121658" y="1894636"/>
            <a:ext cx="0" cy="4937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975354" y="1947672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01150" y="1316736"/>
            <a:ext cx="292608" cy="292608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17278" y="165506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347454" y="172090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2742" y="186537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Continue from previous Auction Bid — WebSocket STOMP step</a:t>
            </a:r>
          </a:p>
        </p:txBody>
      </p:sp>
      <p:sp>
        <p:nvSpPr>
          <p:cNvPr id="23" name="Oval 22"/>
          <p:cNvSpPr/>
          <p:nvPr/>
        </p:nvSpPr>
        <p:spPr>
          <a:xfrm>
            <a:off x="9317278" y="216712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347454" y="223296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222742" y="237744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2800" b="0" i="0">
                <a:solidFill>
                  <a:srgbClr val="111111"/>
                </a:solidFill>
              </a:rPr>
              <a:t>Auction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03504"/>
            <a:ext cx="11640312" cy="9144"/>
          </a:xfrm>
          <a:prstGeom prst="rect">
            <a:avLst/>
          </a:prstGeom>
          <a:solidFill>
            <a:srgbClr val="BBBBBB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822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11731752" cy="6108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1280160" cy="6108192"/>
          </a:xfrm>
          <a:prstGeom prst="rect">
            <a:avLst/>
          </a:prstGeom>
          <a:solidFill>
            <a:srgbClr val="F6F6F6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3209544"/>
            <a:ext cx="1133856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1" i="0">
                <a:solidFill>
                  <a:srgbClr val="111111"/>
                </a:solidFill>
              </a:rPr>
              <a:t>Auction
Scheduler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658368"/>
            <a:ext cx="10451592" cy="347472"/>
          </a:xfrm>
          <a:prstGeom prst="rect">
            <a:avLst/>
          </a:prstGeom>
          <a:solidFill>
            <a:srgbClr val="D0D0D0"/>
          </a:solidFill>
          <a:ln w="635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5063" y="740664"/>
            <a:ext cx="101772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1100" b="0" i="0">
                <a:solidFill>
                  <a:srgbClr val="111111"/>
                </a:solidFill>
              </a:rPr>
              <a:t>Auction Auto-Close — @Scheduled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556" y="1005840"/>
            <a:ext cx="7315" cy="5760720"/>
          </a:xfrm>
          <a:prstGeom prst="rect">
            <a:avLst/>
          </a:prstGeom>
          <a:solidFill>
            <a:srgbClr val="7A7A7A"/>
          </a:solidFill>
          <a:ln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6" y="1051560"/>
            <a:ext cx="51160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6946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A7A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@Scheduled execution</a:t>
            </a:r>
          </a:p>
        </p:txBody>
      </p:sp>
      <p:sp>
        <p:nvSpPr>
          <p:cNvPr id="14" name="Oval 13"/>
          <p:cNvSpPr/>
          <p:nvPr/>
        </p:nvSpPr>
        <p:spPr>
          <a:xfrm>
            <a:off x="4091482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121658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96946" y="182880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AuctionClosureService.closeExpiredAuctions()</a:t>
            </a:r>
          </a:p>
        </p:txBody>
      </p:sp>
      <p:sp>
        <p:nvSpPr>
          <p:cNvPr id="17" name="Oval 16"/>
          <p:cNvSpPr/>
          <p:nvPr/>
        </p:nvSpPr>
        <p:spPr>
          <a:xfrm>
            <a:off x="4091482" y="213055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121658" y="219638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996946" y="234086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AuctionMapper + BidMapper
+ PaymentMapper + OrderMapper</a:t>
            </a:r>
          </a:p>
        </p:txBody>
      </p:sp>
      <p:pic>
        <p:nvPicPr>
          <p:cNvPr id="20" name="Picture 19" descr="스크린샷 2026-05-24 201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14" y="2318004"/>
            <a:ext cx="347472" cy="3474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70482" y="2692908"/>
            <a:ext cx="13167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ctr"/>
            <a:r>
              <a:rPr sz="680" b="1" i="0">
                <a:solidFill>
                  <a:srgbClr val="111111"/>
                </a:solidFill>
              </a:rPr>
              <a:t>tbl_auction
tbl_bid
tbl_payment
tbl_order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02586" y="2491740"/>
            <a:ext cx="594360" cy="0"/>
          </a:xfrm>
          <a:prstGeom prst="line">
            <a:avLst/>
          </a:prstGeom>
          <a:ln w="12700">
            <a:solidFill>
              <a:srgbClr val="99999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91482" y="264261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121658" y="270845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96946" y="285292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auctionDAO.findExpiredActiveAuctions()</a:t>
            </a:r>
          </a:p>
        </p:txBody>
      </p:sp>
      <p:sp>
        <p:nvSpPr>
          <p:cNvPr id="26" name="Oval 25"/>
          <p:cNvSpPr/>
          <p:nvPr/>
        </p:nvSpPr>
        <p:spPr>
          <a:xfrm>
            <a:off x="4091482" y="3154680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121658" y="3220516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96946" y="3364992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auctionDAO.updateWinnerIfActive(...)</a:t>
            </a:r>
          </a:p>
        </p:txBody>
      </p:sp>
      <p:sp>
        <p:nvSpPr>
          <p:cNvPr id="29" name="Oval 28"/>
          <p:cNvSpPr/>
          <p:nvPr/>
        </p:nvSpPr>
        <p:spPr>
          <a:xfrm>
            <a:off x="4091482" y="3666744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121658" y="3732580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996946" y="387705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createPendingAuctionPayment()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9522" y="3931920"/>
            <a:ext cx="1360169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Transactional</a:t>
            </a:r>
          </a:p>
        </p:txBody>
      </p:sp>
      <p:sp>
        <p:nvSpPr>
          <p:cNvPr id="33" name="Oval 32"/>
          <p:cNvSpPr/>
          <p:nvPr/>
        </p:nvSpPr>
        <p:spPr>
          <a:xfrm>
            <a:off x="4091482" y="417880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121658" y="424464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996946" y="438912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orderDAO.save(orderVO) + paymentDAO.save(paymentVO)</a:t>
            </a:r>
          </a:p>
        </p:txBody>
      </p:sp>
      <p:sp>
        <p:nvSpPr>
          <p:cNvPr id="36" name="Oval 35"/>
          <p:cNvSpPr/>
          <p:nvPr/>
        </p:nvSpPr>
        <p:spPr>
          <a:xfrm>
            <a:off x="4091482" y="469087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121658" y="475670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996946" y="490118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7A7A7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SimpMessagingTemplate
→ /topic/auction.{id}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2742" y="1316736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Result: auction status → CLOSED</a:t>
            </a:r>
          </a:p>
        </p:txBody>
      </p:sp>
      <p:sp>
        <p:nvSpPr>
          <p:cNvPr id="40" name="Oval 39"/>
          <p:cNvSpPr/>
          <p:nvPr/>
        </p:nvSpPr>
        <p:spPr>
          <a:xfrm>
            <a:off x="9317278" y="1618488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347454" y="1684324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222742" y="1828800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Winner confirmed</a:t>
            </a:r>
          </a:p>
        </p:txBody>
      </p:sp>
      <p:sp>
        <p:nvSpPr>
          <p:cNvPr id="43" name="Oval 42"/>
          <p:cNvSpPr/>
          <p:nvPr/>
        </p:nvSpPr>
        <p:spPr>
          <a:xfrm>
            <a:off x="9317278" y="2130552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9347454" y="2196388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222742" y="2340864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Create PENDING payment order</a:t>
            </a:r>
          </a:p>
        </p:txBody>
      </p:sp>
      <p:sp>
        <p:nvSpPr>
          <p:cNvPr id="46" name="Oval 45"/>
          <p:cNvSpPr/>
          <p:nvPr/>
        </p:nvSpPr>
        <p:spPr>
          <a:xfrm>
            <a:off x="9317278" y="2642616"/>
            <a:ext cx="60350" cy="60350"/>
          </a:xfrm>
          <a:prstGeom prst="ellipse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9347454" y="2708452"/>
            <a:ext cx="0" cy="140818"/>
          </a:xfrm>
          <a:prstGeom prst="line">
            <a:avLst/>
          </a:prstGeom>
          <a:ln w="12700">
            <a:solidFill>
              <a:srgbClr val="1111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222742" y="2852928"/>
            <a:ext cx="22494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9144"/>
          <a:lstStyle/>
          <a:p>
            <a:pPr algn="ctr"/>
            <a:r>
              <a:rPr sz="900" b="0" i="0">
                <a:solidFill>
                  <a:srgbClr val="111111"/>
                </a:solidFill>
              </a:rPr>
              <a:t>Receive BidBroadcastDTO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