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Gallery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Gallery
Create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Gallery Create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636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294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691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75747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682496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7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73352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650" b="0" i="0">
                <a:solidFill>
                  <a:srgbClr val="666666"/>
                </a:solidFill>
              </a:rPr>
              <a:t>POST /api/galleries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181965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GalleryAPIController.write(memberId, requestDTO, coverFile)</a:t>
            </a:r>
          </a:p>
        </p:txBody>
      </p:sp>
      <p:sp>
        <p:nvSpPr>
          <p:cNvPr id="21" name="Oval 20"/>
          <p:cNvSpPr/>
          <p:nvPr/>
        </p:nvSpPr>
        <p:spPr>
          <a:xfrm>
            <a:off x="4091482" y="206654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21658" y="213238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996946" y="219456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GalleryService.write(memberId, requestDTO, coverFile)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9522" y="2249424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5" name="Oval 24"/>
          <p:cNvSpPr/>
          <p:nvPr/>
        </p:nvSpPr>
        <p:spPr>
          <a:xfrm>
            <a:off x="4091482" y="244144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21658" y="250728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996946" y="256946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S3FileService.upload("galleries", coverFile)</a:t>
            </a:r>
          </a:p>
        </p:txBody>
      </p:sp>
      <p:pic>
        <p:nvPicPr>
          <p:cNvPr id="28" name="Picture 27" descr="스크린샷 2026-05-24 202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0" y="2510028"/>
            <a:ext cx="365760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63090" y="2894076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11730" y="2692908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091482" y="2816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121658" y="288218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996946" y="2944368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GalleryMapper.xml</a:t>
            </a:r>
          </a:p>
        </p:txBody>
      </p:sp>
      <p:pic>
        <p:nvPicPr>
          <p:cNvPr id="34" name="Picture 33" descr="스크린샷 2026-05-24 201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114" y="2894076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70482" y="3268980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tbl_gallery
tbl_gallery_work
tbl_gallery_tag
AWS S3 Bucket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402586" y="3067812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1482" y="31912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121658" y="3257092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996946" y="3319272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GalleryDAO.save(requestDTO)</a:t>
            </a:r>
          </a:p>
        </p:txBody>
      </p:sp>
      <p:sp>
        <p:nvSpPr>
          <p:cNvPr id="40" name="Oval 39"/>
          <p:cNvSpPr/>
          <p:nvPr/>
        </p:nvSpPr>
        <p:spPr>
          <a:xfrm>
            <a:off x="4091482" y="35661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121658" y="363199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996946" y="369417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GalleryDAO.saveWorkLink(galleryId, workId)</a:t>
            </a:r>
          </a:p>
        </p:txBody>
      </p:sp>
      <p:sp>
        <p:nvSpPr>
          <p:cNvPr id="43" name="Oval 42"/>
          <p:cNvSpPr/>
          <p:nvPr/>
        </p:nvSpPr>
        <p:spPr>
          <a:xfrm>
            <a:off x="4091482" y="3941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121658" y="400690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996946" y="406908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GalleryDAO.saveTag(galleryId, tagId)</a:t>
            </a:r>
          </a:p>
        </p:txBody>
      </p:sp>
      <p:sp>
        <p:nvSpPr>
          <p:cNvPr id="46" name="Oval 45"/>
          <p:cNvSpPr/>
          <p:nvPr/>
        </p:nvSpPr>
        <p:spPr>
          <a:xfrm>
            <a:off x="4091482" y="431596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121658" y="438180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996946" y="444398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GalleryDAO.updateWorkCount(galleryId)</a:t>
            </a:r>
          </a:p>
        </p:txBody>
      </p:sp>
      <p:sp>
        <p:nvSpPr>
          <p:cNvPr id="49" name="Oval 48"/>
          <p:cNvSpPr/>
          <p:nvPr/>
        </p:nvSpPr>
        <p:spPr>
          <a:xfrm>
            <a:off x="4091482" y="469087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121658" y="475670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91482" y="48188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21658" y="4884724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003151" y="4965557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28947" y="1344533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17278" y="1645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9347454" y="171175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222742" y="177393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gallery-register.js</a:t>
            </a:r>
          </a:p>
        </p:txBody>
      </p:sp>
      <p:sp>
        <p:nvSpPr>
          <p:cNvPr id="58" name="Oval 57"/>
          <p:cNvSpPr/>
          <p:nvPr/>
        </p:nvSpPr>
        <p:spPr>
          <a:xfrm>
            <a:off x="9317278" y="20208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9347454" y="20866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8222742" y="214884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GalleryCreateRequestDTO + coverFile</a:t>
            </a:r>
          </a:p>
        </p:txBody>
      </p:sp>
      <p:sp>
        <p:nvSpPr>
          <p:cNvPr id="61" name="Oval 60"/>
          <p:cNvSpPr/>
          <p:nvPr/>
        </p:nvSpPr>
        <p:spPr>
          <a:xfrm>
            <a:off x="9317278" y="239572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47454" y="246156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222742" y="252374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/main?relatedGalleryId={id}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44917" y="257860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1" i="0">
                <a:solidFill>
                  <a:srgbClr val="111111"/>
                </a:solidFill>
              </a:rPr>
              <a:t>Redirect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Gallery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Gallery
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Gallery List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explore-result.html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8196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8854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8105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8013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800" b="0" i="0">
                <a:solidFill>
                  <a:srgbClr val="666666"/>
                </a:solidFill>
              </a:rPr>
              <a:t>GET /api/galleries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20208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GalleryMapper.xml</a:t>
            </a:r>
          </a:p>
        </p:txBody>
      </p:sp>
      <p:pic>
        <p:nvPicPr>
          <p:cNvPr id="21" name="Picture 20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1997964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0482" y="2372868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tbl_gallery
AWS S3 Bucket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2586" y="2171700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91482" y="23225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3884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25237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GalleryDAO.findAll(searchDTO)</a:t>
            </a:r>
          </a:p>
        </p:txBody>
      </p:sp>
      <p:sp>
        <p:nvSpPr>
          <p:cNvPr id="27" name="Oval 26"/>
          <p:cNvSpPr/>
          <p:nvPr/>
        </p:nvSpPr>
        <p:spPr>
          <a:xfrm>
            <a:off x="4091482" y="28254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121658" y="28913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996946" y="302666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GalleryDAO.countAll(searchDTO)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33284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339425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352958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GalleryService.getGalleryList(searchDTO)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83133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389717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96946" y="403250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S3FileService.getPresignedUrl(coverImage)</a:t>
            </a:r>
          </a:p>
        </p:txBody>
      </p:sp>
      <p:pic>
        <p:nvPicPr>
          <p:cNvPr id="36" name="Picture 35" descr="스크린샷 2026-05-24 202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70" y="4000500"/>
            <a:ext cx="365760" cy="3657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863090" y="4384548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11730" y="4183380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91482" y="43342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4121658" y="44000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996946" y="45354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GalleryAPIController.list(searchDTO)</a:t>
            </a:r>
          </a:p>
        </p:txBody>
      </p:sp>
      <p:sp>
        <p:nvSpPr>
          <p:cNvPr id="42" name="Oval 41"/>
          <p:cNvSpPr/>
          <p:nvPr/>
        </p:nvSpPr>
        <p:spPr>
          <a:xfrm>
            <a:off x="4091482" y="48371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21658" y="49030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091482" y="503834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121658" y="5104180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976817" y="515867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202613" y="13181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17278" y="1655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9347454" y="172090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222742" y="185623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service.js</a:t>
            </a:r>
          </a:p>
        </p:txBody>
      </p:sp>
      <p:sp>
        <p:nvSpPr>
          <p:cNvPr id="51" name="Oval 50"/>
          <p:cNvSpPr/>
          <p:nvPr/>
        </p:nvSpPr>
        <p:spPr>
          <a:xfrm>
            <a:off x="9317278" y="21579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347454" y="222382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8222742" y="235915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GallerySearchDTO</a:t>
            </a:r>
          </a:p>
        </p:txBody>
      </p:sp>
      <p:sp>
        <p:nvSpPr>
          <p:cNvPr id="54" name="Oval 53"/>
          <p:cNvSpPr/>
          <p:nvPr/>
        </p:nvSpPr>
        <p:spPr>
          <a:xfrm>
            <a:off x="9317278" y="2660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9347454" y="272674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222742" y="286207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PageResponseDTO&lt;GalleryListResponseDTO&gt;</a:t>
            </a:r>
          </a:p>
        </p:txBody>
      </p:sp>
      <p:sp>
        <p:nvSpPr>
          <p:cNvPr id="57" name="Oval 56"/>
          <p:cNvSpPr/>
          <p:nvPr/>
        </p:nvSpPr>
        <p:spPr>
          <a:xfrm>
            <a:off x="9317278" y="31638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47454" y="322966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222742" y="3364992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gallery-list.html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Gallery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Gallery
Detail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Gallery Detail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8196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8854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8105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8013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800" b="0" i="0">
                <a:solidFill>
                  <a:srgbClr val="666666"/>
                </a:solidFill>
              </a:rPr>
              <a:t>GET /api/galleries/{id}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20208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GalleryMapper.xml  +  WorkMapper.xml</a:t>
            </a:r>
          </a:p>
        </p:txBody>
      </p:sp>
      <p:pic>
        <p:nvPicPr>
          <p:cNvPr id="21" name="Picture 20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1997964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0482" y="2372868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tbl_gallery
tbl_gallery_tag
tbl_work
tbl_work_file
AWS S3 Bucket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2586" y="2171700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91482" y="23225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3884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25237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GalleryDAO.findById(id)</a:t>
            </a:r>
          </a:p>
        </p:txBody>
      </p:sp>
      <p:sp>
        <p:nvSpPr>
          <p:cNvPr id="27" name="Oval 26"/>
          <p:cNvSpPr/>
          <p:nvPr/>
        </p:nvSpPr>
        <p:spPr>
          <a:xfrm>
            <a:off x="4091482" y="28254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121658" y="28913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996946" y="302666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GalleryDAO.findTagsByGalleryId(id)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33284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339425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352958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WorkDAO.findAll(searchDTO)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83133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389717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96946" y="403250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GalleryService.getGalleryDetail(id)</a:t>
            </a:r>
          </a:p>
        </p:txBody>
      </p:sp>
      <p:sp>
        <p:nvSpPr>
          <p:cNvPr id="36" name="Oval 35"/>
          <p:cNvSpPr/>
          <p:nvPr/>
        </p:nvSpPr>
        <p:spPr>
          <a:xfrm>
            <a:off x="4091482" y="43342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1658" y="44000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996946" y="45354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S3FileService.getPresignedUrl(cover / thumbnails)</a:t>
            </a:r>
          </a:p>
        </p:txBody>
      </p:sp>
      <p:pic>
        <p:nvPicPr>
          <p:cNvPr id="39" name="Picture 38" descr="스크린샷 2026-05-24 202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70" y="4503420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63090" y="4887468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11730" y="4686300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091482" y="48371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21658" y="49030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996946" y="50383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GalleryAPIController.detail(id)</a:t>
            </a:r>
          </a:p>
        </p:txBody>
      </p:sp>
      <p:sp>
        <p:nvSpPr>
          <p:cNvPr id="45" name="Oval 44"/>
          <p:cNvSpPr/>
          <p:nvPr/>
        </p:nvSpPr>
        <p:spPr>
          <a:xfrm>
            <a:off x="4091482" y="53400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121658" y="54059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91482" y="55412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121658" y="5607100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3976817" y="56615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202613" y="13181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17278" y="1655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9347454" y="172090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8222742" y="185623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service.js</a:t>
            </a:r>
          </a:p>
        </p:txBody>
      </p:sp>
      <p:sp>
        <p:nvSpPr>
          <p:cNvPr id="54" name="Oval 53"/>
          <p:cNvSpPr/>
          <p:nvPr/>
        </p:nvSpPr>
        <p:spPr>
          <a:xfrm>
            <a:off x="9317278" y="21579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9347454" y="222382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222742" y="2359152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gallery-detail.html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Gallery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Gallery
Update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Gallery Update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17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91482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841" y="15819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6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5727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550" b="0" i="0">
                <a:solidFill>
                  <a:srgbClr val="666666"/>
                </a:solidFill>
              </a:rPr>
              <a:t>POST /api/galleries/{id}/edit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6946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GalleryAPIController.update(id, memberId)</a:t>
            </a:r>
          </a:p>
        </p:txBody>
      </p:sp>
      <p:sp>
        <p:nvSpPr>
          <p:cNvPr id="19" name="Oval 18"/>
          <p:cNvSpPr/>
          <p:nvPr/>
        </p:nvSpPr>
        <p:spPr>
          <a:xfrm>
            <a:off x="4091482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96946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GalleryService.update()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9522" y="1993392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2" name="Oval 21"/>
          <p:cNvSpPr/>
          <p:nvPr/>
        </p:nvSpPr>
        <p:spPr>
          <a:xfrm>
            <a:off x="4091482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033522" y="2212848"/>
            <a:ext cx="2176272" cy="34747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validateGalleryOwner
(id, memberId)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49474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4657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25603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96946" y="26334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S3FileService.upload("galleries", coverFile)</a:t>
            </a:r>
          </a:p>
        </p:txBody>
      </p:sp>
      <p:pic>
        <p:nvPicPr>
          <p:cNvPr id="28" name="Picture 27" descr="스크린샷 2026-05-24 202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0" y="2551176"/>
            <a:ext cx="365760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63090" y="2935224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11730" y="2734056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091482" y="2834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96946" y="29077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GalleryMapper.xml</a:t>
            </a:r>
          </a:p>
        </p:txBody>
      </p:sp>
      <p:pic>
        <p:nvPicPr>
          <p:cNvPr id="33" name="Picture 32" descr="스크린샷 2026-05-24 201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114" y="2834640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570482" y="3209544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tbl_gallery
AWS S3 Bucket
tbl_gallery_work
tbl_gallery_tag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402586" y="3008376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091482" y="31089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96946" y="31821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GalleryDAO.update(id, requestDTO)</a:t>
            </a:r>
          </a:p>
        </p:txBody>
      </p:sp>
      <p:sp>
        <p:nvSpPr>
          <p:cNvPr id="38" name="Oval 37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96946" y="34564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GalleryMapper.xml</a:t>
            </a:r>
          </a:p>
        </p:txBody>
      </p:sp>
      <p:sp>
        <p:nvSpPr>
          <p:cNvPr id="40" name="Oval 39"/>
          <p:cNvSpPr/>
          <p:nvPr/>
        </p:nvSpPr>
        <p:spPr>
          <a:xfrm>
            <a:off x="4091482" y="36576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96946" y="37307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GalleryDAO.deleteWorkLinks()</a:t>
            </a:r>
          </a:p>
        </p:txBody>
      </p:sp>
      <p:sp>
        <p:nvSpPr>
          <p:cNvPr id="42" name="Oval 41"/>
          <p:cNvSpPr/>
          <p:nvPr/>
        </p:nvSpPr>
        <p:spPr>
          <a:xfrm>
            <a:off x="4091482" y="3931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96946" y="40050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GalleryDAO.saveWorkLink(...)</a:t>
            </a:r>
          </a:p>
        </p:txBody>
      </p:sp>
      <p:sp>
        <p:nvSpPr>
          <p:cNvPr id="44" name="Oval 43"/>
          <p:cNvSpPr/>
          <p:nvPr/>
        </p:nvSpPr>
        <p:spPr>
          <a:xfrm>
            <a:off x="4091482" y="42062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96946" y="42793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GalleryDAO.deleteTagsByGalleryId()</a:t>
            </a:r>
          </a:p>
        </p:txBody>
      </p:sp>
      <p:sp>
        <p:nvSpPr>
          <p:cNvPr id="46" name="Oval 45"/>
          <p:cNvSpPr/>
          <p:nvPr/>
        </p:nvSpPr>
        <p:spPr>
          <a:xfrm>
            <a:off x="4091482" y="44805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96946" y="45537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GalleryDAO.saveTag(...)</a:t>
            </a:r>
          </a:p>
        </p:txBody>
      </p:sp>
      <p:sp>
        <p:nvSpPr>
          <p:cNvPr id="48" name="Oval 47"/>
          <p:cNvSpPr/>
          <p:nvPr/>
        </p:nvSpPr>
        <p:spPr>
          <a:xfrm>
            <a:off x="4091482" y="47548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96946" y="48280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GalleryDAO.updateWorkCount(id)</a:t>
            </a:r>
          </a:p>
        </p:txBody>
      </p:sp>
      <p:sp>
        <p:nvSpPr>
          <p:cNvPr id="50" name="Oval 49"/>
          <p:cNvSpPr/>
          <p:nvPr/>
        </p:nvSpPr>
        <p:spPr>
          <a:xfrm>
            <a:off x="4091482" y="50292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91482" y="5102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21658" y="516818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025097" y="5270967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50893" y="1366479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17278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2742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gallery-register.js</a:t>
            </a:r>
          </a:p>
        </p:txBody>
      </p:sp>
      <p:sp>
        <p:nvSpPr>
          <p:cNvPr id="57" name="Oval 56"/>
          <p:cNvSpPr/>
          <p:nvPr/>
        </p:nvSpPr>
        <p:spPr>
          <a:xfrm>
            <a:off x="9317278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2742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GalleryUpdateRequestDTO</a:t>
            </a:r>
          </a:p>
        </p:txBody>
      </p:sp>
      <p:sp>
        <p:nvSpPr>
          <p:cNvPr id="59" name="Oval 58"/>
          <p:cNvSpPr/>
          <p:nvPr/>
        </p:nvSpPr>
        <p:spPr>
          <a:xfrm>
            <a:off x="9317278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22742" y="2212848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gallery-detail.html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Gallery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Gallery
Delete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Gallery Delete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gallery-detail.html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17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91482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841" y="15819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6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5727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550" b="0" i="0">
                <a:solidFill>
                  <a:srgbClr val="666666"/>
                </a:solidFill>
              </a:rPr>
              <a:t>DELETE /api/galleries/{id}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6946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GalleryAPIController.delete(id, memberId)</a:t>
            </a:r>
          </a:p>
        </p:txBody>
      </p:sp>
      <p:sp>
        <p:nvSpPr>
          <p:cNvPr id="19" name="Oval 18"/>
          <p:cNvSpPr/>
          <p:nvPr/>
        </p:nvSpPr>
        <p:spPr>
          <a:xfrm>
            <a:off x="4091482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96946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GalleryService.delete()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9522" y="1993392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2" name="Oval 21"/>
          <p:cNvSpPr/>
          <p:nvPr/>
        </p:nvSpPr>
        <p:spPr>
          <a:xfrm>
            <a:off x="4091482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033522" y="2212848"/>
            <a:ext cx="2176272" cy="34747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validateGalleryOwner
(id, memberId)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49474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4657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25603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96946" y="26334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GalleryMapper.xml  +  WorkMapper.xml</a:t>
            </a:r>
          </a:p>
        </p:txBody>
      </p:sp>
      <p:pic>
        <p:nvPicPr>
          <p:cNvPr id="28" name="Picture 27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2560320"/>
            <a:ext cx="347472" cy="34747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0482" y="2935224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tbl_gallery
tbl_gallery_work
tbl_work
tbl_work_file
tbl_work_tag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02586" y="2734056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091482" y="2834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96946" y="29077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GalleryDAO.findWorkIdsByGalleryId(id)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1089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96946" y="31821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GalleryMapper.xml  +  WorkMapper.xml</a:t>
            </a:r>
          </a:p>
        </p:txBody>
      </p:sp>
      <p:sp>
        <p:nvSpPr>
          <p:cNvPr id="35" name="Oval 34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96946" y="34564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workDAO.deleteFilesByWorkId(workId)</a:t>
            </a:r>
          </a:p>
        </p:txBody>
      </p:sp>
      <p:sp>
        <p:nvSpPr>
          <p:cNvPr id="37" name="Oval 36"/>
          <p:cNvSpPr/>
          <p:nvPr/>
        </p:nvSpPr>
        <p:spPr>
          <a:xfrm>
            <a:off x="4091482" y="36576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96946" y="37307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workDAO.deleteTagsByWorkId(workId)</a:t>
            </a:r>
          </a:p>
        </p:txBody>
      </p:sp>
      <p:sp>
        <p:nvSpPr>
          <p:cNvPr id="39" name="Oval 38"/>
          <p:cNvSpPr/>
          <p:nvPr/>
        </p:nvSpPr>
        <p:spPr>
          <a:xfrm>
            <a:off x="4091482" y="3931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96946" y="40050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galleryDAO.deleteWorkLinkByWorkId(workId)</a:t>
            </a:r>
          </a:p>
        </p:txBody>
      </p:sp>
      <p:sp>
        <p:nvSpPr>
          <p:cNvPr id="41" name="Oval 40"/>
          <p:cNvSpPr/>
          <p:nvPr/>
        </p:nvSpPr>
        <p:spPr>
          <a:xfrm>
            <a:off x="4091482" y="42062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96946" y="42793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workDAO.delete(workId)</a:t>
            </a:r>
          </a:p>
        </p:txBody>
      </p:sp>
      <p:sp>
        <p:nvSpPr>
          <p:cNvPr id="43" name="Oval 42"/>
          <p:cNvSpPr/>
          <p:nvPr/>
        </p:nvSpPr>
        <p:spPr>
          <a:xfrm>
            <a:off x="4091482" y="44805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96946" y="45537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galleryDAO.deleteWorkLinksByGalleryId(id)</a:t>
            </a:r>
          </a:p>
        </p:txBody>
      </p:sp>
      <p:sp>
        <p:nvSpPr>
          <p:cNvPr id="45" name="Oval 44"/>
          <p:cNvSpPr/>
          <p:nvPr/>
        </p:nvSpPr>
        <p:spPr>
          <a:xfrm>
            <a:off x="4091482" y="47548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96946" y="48280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galleryDAO.delete(id)</a:t>
            </a:r>
          </a:p>
        </p:txBody>
      </p:sp>
      <p:sp>
        <p:nvSpPr>
          <p:cNvPr id="47" name="Oval 46"/>
          <p:cNvSpPr/>
          <p:nvPr/>
        </p:nvSpPr>
        <p:spPr>
          <a:xfrm>
            <a:off x="4091482" y="50292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91482" y="5102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121658" y="516818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025097" y="5270967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50893" y="1366479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17278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22742" y="1664208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gallery-list.html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Work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Work
Create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Work Create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17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91482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841" y="15819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6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5727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550" b="0" i="0">
                <a:solidFill>
                  <a:srgbClr val="666666"/>
                </a:solidFill>
              </a:rPr>
              <a:t>POST /api/works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6946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WorkMapper.xml  +  AuctionMapper.xml</a:t>
            </a:r>
          </a:p>
        </p:txBody>
      </p:sp>
      <p:pic>
        <p:nvPicPr>
          <p:cNvPr id="19" name="Picture 18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1591056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70482" y="1965960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tbl_work
tbl_work_file
AWS S3 Bucket
tbl_work_tag
tbl_gallery_work
tbl_auction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02586" y="1764792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091482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033522" y="1938528"/>
            <a:ext cx="2176272" cy="34747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validateGalleryOwner
(galleryId, memberId)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49474" y="206014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4657" y="206014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22860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96946" y="23591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workDAO.save(workDTO)</a:t>
            </a:r>
          </a:p>
        </p:txBody>
      </p:sp>
      <p:sp>
        <p:nvSpPr>
          <p:cNvPr id="28" name="Oval 27"/>
          <p:cNvSpPr/>
          <p:nvPr/>
        </p:nvSpPr>
        <p:spPr>
          <a:xfrm>
            <a:off x="4091482" y="25603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96946" y="26334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S3FileService.upload("works", mediaFile / thumbnailFile)</a:t>
            </a:r>
          </a:p>
        </p:txBody>
      </p:sp>
      <p:pic>
        <p:nvPicPr>
          <p:cNvPr id="30" name="Picture 29" descr="스크린샷 2026-05-24 202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70" y="2551176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863090" y="2935224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411730" y="2734056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091482" y="2834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96946" y="29077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workDAO.saveFile(WorkFileVO)</a:t>
            </a:r>
          </a:p>
        </p:txBody>
      </p:sp>
      <p:sp>
        <p:nvSpPr>
          <p:cNvPr id="35" name="Oval 34"/>
          <p:cNvSpPr/>
          <p:nvPr/>
        </p:nvSpPr>
        <p:spPr>
          <a:xfrm>
            <a:off x="4091482" y="31089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96946" y="31821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saveExistingFiles(workId, files)</a:t>
            </a:r>
          </a:p>
        </p:txBody>
      </p:sp>
      <p:sp>
        <p:nvSpPr>
          <p:cNvPr id="37" name="Oval 36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96946" y="34564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WorkMapper.xml  +  AuctionMapper.xml</a:t>
            </a:r>
          </a:p>
        </p:txBody>
      </p:sp>
      <p:sp>
        <p:nvSpPr>
          <p:cNvPr id="39" name="Oval 38"/>
          <p:cNvSpPr/>
          <p:nvPr/>
        </p:nvSpPr>
        <p:spPr>
          <a:xfrm>
            <a:off x="4091482" y="36576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96946" y="37307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saveTags(workId, tagIds, tagNames)</a:t>
            </a:r>
          </a:p>
        </p:txBody>
      </p:sp>
      <p:sp>
        <p:nvSpPr>
          <p:cNvPr id="41" name="Oval 40"/>
          <p:cNvSpPr/>
          <p:nvPr/>
        </p:nvSpPr>
        <p:spPr>
          <a:xfrm>
            <a:off x="4091482" y="3931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96946" y="40050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saveGalleryLink(galleryId, workId)</a:t>
            </a:r>
          </a:p>
        </p:txBody>
      </p:sp>
      <p:sp>
        <p:nvSpPr>
          <p:cNvPr id="43" name="Oval 42"/>
          <p:cNvSpPr/>
          <p:nvPr/>
        </p:nvSpPr>
        <p:spPr>
          <a:xfrm>
            <a:off x="4091482" y="42062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96946" y="42793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saveAuctionIfRequested(workId, sellerId, ...)</a:t>
            </a:r>
          </a:p>
        </p:txBody>
      </p:sp>
      <p:sp>
        <p:nvSpPr>
          <p:cNvPr id="45" name="Oval 44"/>
          <p:cNvSpPr/>
          <p:nvPr/>
        </p:nvSpPr>
        <p:spPr>
          <a:xfrm>
            <a:off x="4091482" y="44805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96946" y="45537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WorkAPIController.write(memberId)</a:t>
            </a:r>
          </a:p>
        </p:txBody>
      </p:sp>
      <p:sp>
        <p:nvSpPr>
          <p:cNvPr id="47" name="Oval 46"/>
          <p:cNvSpPr/>
          <p:nvPr/>
        </p:nvSpPr>
        <p:spPr>
          <a:xfrm>
            <a:off x="4091482" y="47548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091482" y="482803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121658" y="489386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025097" y="4996647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50893" y="1366479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17278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22742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work-register.js</a:t>
            </a:r>
          </a:p>
        </p:txBody>
      </p:sp>
      <p:sp>
        <p:nvSpPr>
          <p:cNvPr id="54" name="Oval 53"/>
          <p:cNvSpPr/>
          <p:nvPr/>
        </p:nvSpPr>
        <p:spPr>
          <a:xfrm>
            <a:off x="9317278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22742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WorkCreateRequestDTO</a:t>
            </a:r>
          </a:p>
        </p:txBody>
      </p:sp>
      <p:sp>
        <p:nvSpPr>
          <p:cNvPr id="56" name="Oval 55"/>
          <p:cNvSpPr/>
          <p:nvPr/>
        </p:nvSpPr>
        <p:spPr>
          <a:xfrm>
            <a:off x="9317278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22742" y="2212848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work-detail.html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Work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Work
Feed / Detail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Work Feed &amp; Detail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636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294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691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75747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682496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7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73352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650" b="0" i="0">
                <a:solidFill>
                  <a:srgbClr val="666666"/>
                </a:solidFill>
              </a:rPr>
              <a:t>GET /api/works/feed  |  GET /api/works/{id}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181965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WorkMapper.xml</a:t>
            </a:r>
          </a:p>
        </p:txBody>
      </p:sp>
      <p:pic>
        <p:nvPicPr>
          <p:cNvPr id="21" name="Picture 20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1769364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0482" y="2144268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tbl_work
tbl_work_file
tbl_work_tag
tbl_comment
AWS S3 Bucket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2586" y="1943100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91482" y="206654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13238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219456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WorkDAO.findFeed(searchDTO)</a:t>
            </a:r>
          </a:p>
        </p:txBody>
      </p:sp>
      <p:sp>
        <p:nvSpPr>
          <p:cNvPr id="27" name="Oval 26"/>
          <p:cNvSpPr/>
          <p:nvPr/>
        </p:nvSpPr>
        <p:spPr>
          <a:xfrm>
            <a:off x="4091482" y="244144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121658" y="250728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996946" y="256946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WorkDAO.findDetailById(id)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2816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288218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2944368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WorkDAO.findFilesByWorkId(id)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1912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3257092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96946" y="3319272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WorkDAO.findTagsByWorkId(id)</a:t>
            </a:r>
          </a:p>
        </p:txBody>
      </p:sp>
      <p:sp>
        <p:nvSpPr>
          <p:cNvPr id="36" name="Oval 35"/>
          <p:cNvSpPr/>
          <p:nvPr/>
        </p:nvSpPr>
        <p:spPr>
          <a:xfrm>
            <a:off x="4091482" y="35661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1658" y="363199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996946" y="369417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WorkService.getWorkList() / getWorkDetail()</a:t>
            </a:r>
          </a:p>
        </p:txBody>
      </p:sp>
      <p:sp>
        <p:nvSpPr>
          <p:cNvPr id="39" name="Oval 38"/>
          <p:cNvSpPr/>
          <p:nvPr/>
        </p:nvSpPr>
        <p:spPr>
          <a:xfrm>
            <a:off x="4091482" y="3941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4121658" y="400690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996946" y="406908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applyFileUrls() → S3 presigned URL</a:t>
            </a:r>
          </a:p>
        </p:txBody>
      </p:sp>
      <p:pic>
        <p:nvPicPr>
          <p:cNvPr id="42" name="Picture 41" descr="스크린샷 2026-05-24 202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70" y="4009644"/>
            <a:ext cx="365760" cy="36576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863090" y="4393692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411730" y="4192524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091482" y="431596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121658" y="438180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996946" y="444398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WorkAPIController.feed() / detail()</a:t>
            </a:r>
          </a:p>
        </p:txBody>
      </p:sp>
      <p:sp>
        <p:nvSpPr>
          <p:cNvPr id="48" name="Oval 47"/>
          <p:cNvSpPr/>
          <p:nvPr/>
        </p:nvSpPr>
        <p:spPr>
          <a:xfrm>
            <a:off x="4091482" y="469087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121658" y="475670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091482" y="48188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21658" y="4884724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003151" y="4965557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228947" y="1344533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17278" y="1645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9347454" y="171175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222742" y="177393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workdetail.js</a:t>
            </a:r>
          </a:p>
        </p:txBody>
      </p:sp>
      <p:sp>
        <p:nvSpPr>
          <p:cNvPr id="57" name="Oval 56"/>
          <p:cNvSpPr/>
          <p:nvPr/>
        </p:nvSpPr>
        <p:spPr>
          <a:xfrm>
            <a:off x="9317278" y="20208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47454" y="20866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222742" y="2148840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work-feed.html  /  work-detail.html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Work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Work
Update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Work Update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17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91482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841" y="15819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6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5727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550" b="0" i="0">
                <a:solidFill>
                  <a:srgbClr val="666666"/>
                </a:solidFill>
              </a:rPr>
              <a:t>POST /api/works/{id}/edit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6946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WorkAPIController.updateFromForm(id, memberId)</a:t>
            </a:r>
          </a:p>
        </p:txBody>
      </p:sp>
      <p:sp>
        <p:nvSpPr>
          <p:cNvPr id="19" name="Oval 18"/>
          <p:cNvSpPr/>
          <p:nvPr/>
        </p:nvSpPr>
        <p:spPr>
          <a:xfrm>
            <a:off x="4091482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96946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WorkService.update()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9522" y="1993392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2" name="Oval 21"/>
          <p:cNvSpPr/>
          <p:nvPr/>
        </p:nvSpPr>
        <p:spPr>
          <a:xfrm>
            <a:off x="4091482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3033522" y="2212848"/>
            <a:ext cx="2176272" cy="34747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validateWorkOwner
+ validateGalleryOwner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49474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4657" y="233446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25603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96946" y="26334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WorkMapper + GalleryMapper + AuctionMapper</a:t>
            </a:r>
          </a:p>
        </p:txBody>
      </p:sp>
      <p:pic>
        <p:nvPicPr>
          <p:cNvPr id="28" name="Picture 27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2560320"/>
            <a:ext cx="347472" cy="34747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0482" y="2935224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tbl_work
tbl_work_file
AWS S3 Bucket
tbl_work_tag
tbl_gallery_work
tbl_auction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02586" y="2734056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091482" y="2834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96946" y="29077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workDAO.setWork(workVO)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1089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96946" y="31821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workDAO.deleteFiles + deleteTags</a:t>
            </a:r>
          </a:p>
        </p:txBody>
      </p:sp>
      <p:sp>
        <p:nvSpPr>
          <p:cNvPr id="35" name="Oval 34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96946" y="34564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S3FileService.upload("works", mediaFile / thumbnailFile)</a:t>
            </a:r>
          </a:p>
        </p:txBody>
      </p:sp>
      <p:pic>
        <p:nvPicPr>
          <p:cNvPr id="37" name="Picture 36" descr="스크린샷 2026-05-24 202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70" y="3374136"/>
            <a:ext cx="365760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863090" y="3758184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11730" y="3557016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091482" y="36576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96946" y="37307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workDAO.saveFile(WorkFileVO)</a:t>
            </a:r>
          </a:p>
        </p:txBody>
      </p:sp>
      <p:sp>
        <p:nvSpPr>
          <p:cNvPr id="42" name="Oval 41"/>
          <p:cNvSpPr/>
          <p:nvPr/>
        </p:nvSpPr>
        <p:spPr>
          <a:xfrm>
            <a:off x="4091482" y="3931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96946" y="40050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WorkMapper + GalleryMapper + AuctionMapper</a:t>
            </a:r>
          </a:p>
        </p:txBody>
      </p:sp>
      <p:sp>
        <p:nvSpPr>
          <p:cNvPr id="44" name="Oval 43"/>
          <p:cNvSpPr/>
          <p:nvPr/>
        </p:nvSpPr>
        <p:spPr>
          <a:xfrm>
            <a:off x="4091482" y="42062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96946" y="42793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saveTags(workId, tagIds, tagNames)</a:t>
            </a:r>
          </a:p>
        </p:txBody>
      </p:sp>
      <p:sp>
        <p:nvSpPr>
          <p:cNvPr id="46" name="Oval 45"/>
          <p:cNvSpPr/>
          <p:nvPr/>
        </p:nvSpPr>
        <p:spPr>
          <a:xfrm>
            <a:off x="4091482" y="44805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96946" y="45537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updateGalleryLink(previousGalleryId, galleryId, workId)</a:t>
            </a:r>
          </a:p>
        </p:txBody>
      </p:sp>
      <p:sp>
        <p:nvSpPr>
          <p:cNvPr id="48" name="Oval 47"/>
          <p:cNvSpPr/>
          <p:nvPr/>
        </p:nvSpPr>
        <p:spPr>
          <a:xfrm>
            <a:off x="4091482" y="47548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96946" y="48280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saveAuctionIfRequested(workId, ...)</a:t>
            </a:r>
          </a:p>
        </p:txBody>
      </p:sp>
      <p:sp>
        <p:nvSpPr>
          <p:cNvPr id="50" name="Oval 49"/>
          <p:cNvSpPr/>
          <p:nvPr/>
        </p:nvSpPr>
        <p:spPr>
          <a:xfrm>
            <a:off x="4091482" y="50292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091482" y="5102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21658" y="516818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025097" y="5270967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50893" y="1366479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17278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22742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work-register.js</a:t>
            </a:r>
          </a:p>
        </p:txBody>
      </p:sp>
      <p:sp>
        <p:nvSpPr>
          <p:cNvPr id="57" name="Oval 56"/>
          <p:cNvSpPr/>
          <p:nvPr/>
        </p:nvSpPr>
        <p:spPr>
          <a:xfrm>
            <a:off x="9317278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2742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WorkUpdateRequestDTO</a:t>
            </a:r>
          </a:p>
        </p:txBody>
      </p:sp>
      <p:sp>
        <p:nvSpPr>
          <p:cNvPr id="59" name="Oval 58"/>
          <p:cNvSpPr/>
          <p:nvPr/>
        </p:nvSpPr>
        <p:spPr>
          <a:xfrm>
            <a:off x="9317278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22742" y="2212848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work-detail.html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Work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Work
Delete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Work Delete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work-detail.html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636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294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691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75747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682496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7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73352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650" b="0" i="0">
                <a:solidFill>
                  <a:srgbClr val="666666"/>
                </a:solidFill>
              </a:rPr>
              <a:t>DELETE /api/works/{id}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181965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WorkAPIController.delete(id)</a:t>
            </a:r>
          </a:p>
        </p:txBody>
      </p:sp>
      <p:sp>
        <p:nvSpPr>
          <p:cNvPr id="21" name="Oval 20"/>
          <p:cNvSpPr/>
          <p:nvPr/>
        </p:nvSpPr>
        <p:spPr>
          <a:xfrm>
            <a:off x="4091482" y="206654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21658" y="213238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996946" y="219456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WorkService.delete(id)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9522" y="2249424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5" name="Oval 24"/>
          <p:cNvSpPr/>
          <p:nvPr/>
        </p:nvSpPr>
        <p:spPr>
          <a:xfrm>
            <a:off x="4091482" y="244144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21658" y="250728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996946" y="256946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WorkMapper.xml  +  GalleryMapper.xml</a:t>
            </a:r>
          </a:p>
        </p:txBody>
      </p:sp>
      <p:pic>
        <p:nvPicPr>
          <p:cNvPr id="28" name="Picture 27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2519172"/>
            <a:ext cx="347472" cy="34747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70482" y="2894076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tbl_work
tbl_work_file
tbl_work_tag
tbl_gallery_work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02586" y="2692908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091482" y="281635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121658" y="288218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996946" y="2944368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getWorkDetail(id)</a:t>
            </a:r>
          </a:p>
        </p:txBody>
      </p:sp>
      <p:sp>
        <p:nvSpPr>
          <p:cNvPr id="34" name="Oval 33"/>
          <p:cNvSpPr/>
          <p:nvPr/>
        </p:nvSpPr>
        <p:spPr>
          <a:xfrm>
            <a:off x="4091482" y="31912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121658" y="3257092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96946" y="3319272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workDAO.deleteFiles + deleteTags</a:t>
            </a:r>
          </a:p>
        </p:txBody>
      </p:sp>
      <p:sp>
        <p:nvSpPr>
          <p:cNvPr id="37" name="Oval 36"/>
          <p:cNvSpPr/>
          <p:nvPr/>
        </p:nvSpPr>
        <p:spPr>
          <a:xfrm>
            <a:off x="4091482" y="35661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121658" y="363199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996946" y="369417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galleryDAO.deleteWorkLinkByWorkId(id)</a:t>
            </a:r>
          </a:p>
        </p:txBody>
      </p:sp>
      <p:sp>
        <p:nvSpPr>
          <p:cNvPr id="40" name="Oval 39"/>
          <p:cNvSpPr/>
          <p:nvPr/>
        </p:nvSpPr>
        <p:spPr>
          <a:xfrm>
            <a:off x="4091482" y="3941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121658" y="400690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996946" y="406908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galleryDAO.updateWorkCount(galleryId)</a:t>
            </a:r>
          </a:p>
        </p:txBody>
      </p:sp>
      <p:sp>
        <p:nvSpPr>
          <p:cNvPr id="43" name="Oval 42"/>
          <p:cNvSpPr/>
          <p:nvPr/>
        </p:nvSpPr>
        <p:spPr>
          <a:xfrm>
            <a:off x="4091482" y="431596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121658" y="438180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996946" y="444398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workDAO.delete(id)</a:t>
            </a:r>
          </a:p>
        </p:txBody>
      </p:sp>
      <p:sp>
        <p:nvSpPr>
          <p:cNvPr id="46" name="Oval 45"/>
          <p:cNvSpPr/>
          <p:nvPr/>
        </p:nvSpPr>
        <p:spPr>
          <a:xfrm>
            <a:off x="4091482" y="469087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4121658" y="475670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091482" y="48188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121658" y="4884724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003151" y="4965557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28947" y="1344533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17278" y="1645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9347454" y="171175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8222742" y="1773936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work-feed.html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AI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AI
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AI Image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8196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8854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8105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8013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800" b="0" i="0">
                <a:solidFill>
                  <a:srgbClr val="666666"/>
                </a:solidFill>
              </a:rPr>
              <a:t>POST /api/works/ai/image/pipeline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20208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WorkAPIController.runImagePipeline()</a:t>
            </a:r>
          </a:p>
        </p:txBody>
      </p:sp>
      <p:sp>
        <p:nvSpPr>
          <p:cNvPr id="21" name="Oval 20"/>
          <p:cNvSpPr/>
          <p:nvPr/>
        </p:nvSpPr>
        <p:spPr>
          <a:xfrm>
            <a:off x="4091482" y="23225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21658" y="23884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996946" y="25237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FastAPI  /api/ai/image/pipeline</a:t>
            </a:r>
          </a:p>
        </p:txBody>
      </p:sp>
      <p:sp>
        <p:nvSpPr>
          <p:cNvPr id="24" name="Oval 23"/>
          <p:cNvSpPr/>
          <p:nvPr/>
        </p:nvSpPr>
        <p:spPr>
          <a:xfrm>
            <a:off x="4091482" y="28254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8913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302666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AiService._upload_image_to_s3(result)</a:t>
            </a:r>
          </a:p>
        </p:txBody>
      </p:sp>
      <p:pic>
        <p:nvPicPr>
          <p:cNvPr id="27" name="Picture 26" descr="스크린샷 2026-05-24 202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0" y="299466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863090" y="3378708"/>
            <a:ext cx="73152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700" b="0" i="0">
                <a:solidFill>
                  <a:srgbClr val="E25444"/>
                </a:solidFill>
              </a:rPr>
              <a:t>Amazon S3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411730" y="3177540"/>
            <a:ext cx="585216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4091482" y="33284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339425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352958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Return image_key + image_url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83133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389717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091482" y="40325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121658" y="4098340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3976817" y="415283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02613" y="13181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317278" y="1655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347454" y="172090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222742" y="185623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work-register.js</a:t>
            </a:r>
          </a:p>
        </p:txBody>
      </p:sp>
      <p:sp>
        <p:nvSpPr>
          <p:cNvPr id="42" name="Oval 41"/>
          <p:cNvSpPr/>
          <p:nvPr/>
        </p:nvSpPr>
        <p:spPr>
          <a:xfrm>
            <a:off x="9317278" y="21579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347454" y="222382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222742" y="235915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AI prompt modal input</a:t>
            </a:r>
          </a:p>
        </p:txBody>
      </p:sp>
      <p:sp>
        <p:nvSpPr>
          <p:cNvPr id="45" name="Oval 44"/>
          <p:cNvSpPr/>
          <p:nvPr/>
        </p:nvSpPr>
        <p:spPr>
          <a:xfrm>
            <a:off x="9317278" y="2660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347454" y="272674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222742" y="286207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work-register.html  ← render image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AI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AI
Prediction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AI Price Prediction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8196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8854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8105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8013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800" b="0" i="0">
                <a:solidFill>
                  <a:srgbClr val="666666"/>
                </a:solidFill>
              </a:rPr>
              <a:t>POST /api/work/regression | /classification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20208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FastAPI work_router</a:t>
            </a:r>
          </a:p>
        </p:txBody>
      </p:sp>
      <p:sp>
        <p:nvSpPr>
          <p:cNvPr id="21" name="Oval 20"/>
          <p:cNvSpPr/>
          <p:nvPr/>
        </p:nvSpPr>
        <p:spPr>
          <a:xfrm>
            <a:off x="4091482" y="23225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21658" y="23884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996946" y="25237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regression_model.pkl
classification_model.pkl</a:t>
            </a:r>
          </a:p>
        </p:txBody>
      </p:sp>
      <p:sp>
        <p:nvSpPr>
          <p:cNvPr id="24" name="Oval 23"/>
          <p:cNvSpPr/>
          <p:nvPr/>
        </p:nvSpPr>
        <p:spPr>
          <a:xfrm>
            <a:off x="4091482" y="28254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8913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302666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Regression / Classify response</a:t>
            </a:r>
          </a:p>
        </p:txBody>
      </p:sp>
      <p:sp>
        <p:nvSpPr>
          <p:cNvPr id="27" name="Oval 26"/>
          <p:cNvSpPr/>
          <p:nvPr/>
        </p:nvSpPr>
        <p:spPr>
          <a:xfrm>
            <a:off x="4091482" y="33284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121658" y="339425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091482" y="35295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121658" y="3595420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976817" y="364991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02613" y="13181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317278" y="1655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9347454" y="172090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222742" y="185623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work-register.js</a:t>
            </a:r>
          </a:p>
        </p:txBody>
      </p:sp>
      <p:sp>
        <p:nvSpPr>
          <p:cNvPr id="36" name="Oval 35"/>
          <p:cNvSpPr/>
          <p:nvPr/>
        </p:nvSpPr>
        <p:spPr>
          <a:xfrm>
            <a:off x="9317278" y="21579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347454" y="222382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8222742" y="235915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Render prediction result</a:t>
            </a:r>
          </a:p>
        </p:txBody>
      </p:sp>
      <p:sp>
        <p:nvSpPr>
          <p:cNvPr id="39" name="Oval 38"/>
          <p:cNvSpPr/>
          <p:nvPr/>
        </p:nvSpPr>
        <p:spPr>
          <a:xfrm>
            <a:off x="9317278" y="2660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347454" y="272674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222742" y="2862072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work-register.html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Payment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Payment
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Bootpay PG Payment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179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91482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841" y="15819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6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5727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550" b="0" i="0">
                <a:solidFill>
                  <a:srgbClr val="666666"/>
                </a:solidFill>
              </a:rPr>
              <a:t>POST /api/payments/bootpay/confirm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96946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PaymentAPIController.confirmBootpayPayment(userId)</a:t>
            </a:r>
          </a:p>
        </p:txBody>
      </p:sp>
      <p:sp>
        <p:nvSpPr>
          <p:cNvPr id="19" name="Oval 18"/>
          <p:cNvSpPr/>
          <p:nvPr/>
        </p:nvSpPr>
        <p:spPr>
          <a:xfrm>
            <a:off x="4091482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96946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PaymentService.confirmBootpayPayment(buyerId)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9522" y="1993392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2" name="Oval 21"/>
          <p:cNvSpPr/>
          <p:nvPr/>
        </p:nvSpPr>
        <p:spPr>
          <a:xfrm>
            <a:off x="4091482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96946" y="221284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paymentDAO.findRawById(paymentId)</a:t>
            </a:r>
          </a:p>
        </p:txBody>
      </p:sp>
      <p:sp>
        <p:nvSpPr>
          <p:cNvPr id="24" name="Oval 23"/>
          <p:cNvSpPr/>
          <p:nvPr/>
        </p:nvSpPr>
        <p:spPr>
          <a:xfrm>
            <a:off x="4091482" y="24140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96946" y="248716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BootpayClient.getReceipt(receiptId)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268833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033522" y="2761488"/>
            <a:ext cx="2176272" cy="34747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Validate price/status/order_id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49474" y="288310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4657" y="288310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31089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96946" y="31821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PaymentService.completePayment()</a:t>
            </a:r>
          </a:p>
        </p:txBody>
      </p:sp>
      <p:sp>
        <p:nvSpPr>
          <p:cNvPr id="32" name="Oval 31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96946" y="34564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PaymentMapper + OrderMapper + WorkMapper</a:t>
            </a:r>
          </a:p>
        </p:txBody>
      </p:sp>
      <p:pic>
        <p:nvPicPr>
          <p:cNvPr id="34" name="Picture 33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3383280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570482" y="3758184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tbl_payment
tbl_order
tbl_work
tbl_gallery_work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402586" y="3557016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1482" y="36576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96946" y="37307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paymentDAO.completePayment()</a:t>
            </a:r>
          </a:p>
        </p:txBody>
      </p:sp>
      <p:sp>
        <p:nvSpPr>
          <p:cNvPr id="39" name="Oval 38"/>
          <p:cNvSpPr/>
          <p:nvPr/>
        </p:nvSpPr>
        <p:spPr>
          <a:xfrm>
            <a:off x="4091482" y="3931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96946" y="400507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orderDAO.updateStatus("PAID")</a:t>
            </a:r>
          </a:p>
        </p:txBody>
      </p:sp>
      <p:sp>
        <p:nvSpPr>
          <p:cNvPr id="41" name="Oval 40"/>
          <p:cNvSpPr/>
          <p:nvPr/>
        </p:nvSpPr>
        <p:spPr>
          <a:xfrm>
            <a:off x="4091482" y="42062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96946" y="427939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paymentDAO.updateOtherOpen...</a:t>
            </a:r>
          </a:p>
        </p:txBody>
      </p:sp>
      <p:sp>
        <p:nvSpPr>
          <p:cNvPr id="43" name="Oval 42"/>
          <p:cNvSpPr/>
          <p:nvPr/>
        </p:nvSpPr>
        <p:spPr>
          <a:xfrm>
            <a:off x="4091482" y="448056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96946" y="455371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orderDAO.updateOtherPending...</a:t>
            </a:r>
          </a:p>
        </p:txBody>
      </p:sp>
      <p:sp>
        <p:nvSpPr>
          <p:cNvPr id="45" name="Oval 44"/>
          <p:cNvSpPr/>
          <p:nvPr/>
        </p:nvSpPr>
        <p:spPr>
          <a:xfrm>
            <a:off x="4091482" y="47548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96946" y="482803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workDAO.updateStatus("SOLD")</a:t>
            </a:r>
          </a:p>
        </p:txBody>
      </p:sp>
      <p:sp>
        <p:nvSpPr>
          <p:cNvPr id="47" name="Oval 46"/>
          <p:cNvSpPr/>
          <p:nvPr/>
        </p:nvSpPr>
        <p:spPr>
          <a:xfrm>
            <a:off x="4091482" y="502920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96946" y="5102352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galleryDAO.deleteWorkLinkByWorkId()</a:t>
            </a:r>
          </a:p>
        </p:txBody>
      </p:sp>
      <p:sp>
        <p:nvSpPr>
          <p:cNvPr id="49" name="Oval 48"/>
          <p:cNvSpPr/>
          <p:nvPr/>
        </p:nvSpPr>
        <p:spPr>
          <a:xfrm>
            <a:off x="4091482" y="53035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091482" y="537667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21658" y="544250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025097" y="5545287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250893" y="1366479"/>
            <a:ext cx="193121" cy="19312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17278" y="15910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22742" y="166420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pay.js</a:t>
            </a:r>
          </a:p>
        </p:txBody>
      </p:sp>
      <p:sp>
        <p:nvSpPr>
          <p:cNvPr id="56" name="Oval 55"/>
          <p:cNvSpPr/>
          <p:nvPr/>
        </p:nvSpPr>
        <p:spPr>
          <a:xfrm>
            <a:off x="9317278" y="1865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22742" y="193852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Bootpay.requestPayment(...)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45318" y="1993392"/>
            <a:ext cx="11887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Bootpay JS SDK</a:t>
            </a:r>
          </a:p>
        </p:txBody>
      </p:sp>
      <p:sp>
        <p:nvSpPr>
          <p:cNvPr id="59" name="Oval 58"/>
          <p:cNvSpPr/>
          <p:nvPr/>
        </p:nvSpPr>
        <p:spPr>
          <a:xfrm>
            <a:off x="9317278" y="21396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22742" y="2212848"/>
            <a:ext cx="224942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BootpayConfirmRequestDTO (paymentId, receiptId)</a:t>
            </a:r>
          </a:p>
        </p:txBody>
      </p:sp>
      <p:sp>
        <p:nvSpPr>
          <p:cNvPr id="61" name="Oval 60"/>
          <p:cNvSpPr/>
          <p:nvPr/>
        </p:nvSpPr>
        <p:spPr>
          <a:xfrm>
            <a:off x="9317278" y="24140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2742" y="2487168"/>
            <a:ext cx="2249424" cy="20116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50" b="0" i="0">
                <a:solidFill>
                  <a:srgbClr val="111111"/>
                </a:solidFill>
              </a:rPr>
              <a:t>payment-complete.html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Auction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Auction
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Auction 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81965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88549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810512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90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801368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800" b="0" i="0">
                <a:solidFill>
                  <a:srgbClr val="666666"/>
                </a:solidFill>
              </a:rPr>
              <a:t>GET /api/auction/{workId}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202082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AuctionMapper.xml</a:t>
            </a:r>
          </a:p>
        </p:txBody>
      </p:sp>
      <p:pic>
        <p:nvPicPr>
          <p:cNvPr id="21" name="Picture 20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1997964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70482" y="2372868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tbl_auction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2586" y="2171700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091482" y="23225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121658" y="238841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996946" y="252374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AuctionDAO.findActiveByWorkId(workId)</a:t>
            </a:r>
          </a:p>
        </p:txBody>
      </p:sp>
      <p:sp>
        <p:nvSpPr>
          <p:cNvPr id="27" name="Oval 26"/>
          <p:cNvSpPr/>
          <p:nvPr/>
        </p:nvSpPr>
        <p:spPr>
          <a:xfrm>
            <a:off x="4091482" y="28254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121658" y="289133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996946" y="302666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AuctionService.getActiveAuctionByWorkId()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332841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339425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3529584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AuctionController.getAuction(workId)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383133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3897172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4091482" y="403250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121658" y="4098340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3976817" y="415283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202613" y="1318199"/>
            <a:ext cx="289681" cy="289681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317278" y="165506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347454" y="172090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222742" y="185623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service.js + socket.js
event.js + layout.js</a:t>
            </a:r>
          </a:p>
        </p:txBody>
      </p:sp>
      <p:sp>
        <p:nvSpPr>
          <p:cNvPr id="42" name="Oval 41"/>
          <p:cNvSpPr/>
          <p:nvPr/>
        </p:nvSpPr>
        <p:spPr>
          <a:xfrm>
            <a:off x="9317278" y="21579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347454" y="2223820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222742" y="2359152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work-detail.html  ← render auction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Auction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Auction
Bid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Auction Bid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246888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work-detail.html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5636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294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91482" y="169164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21658" y="175747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15841" y="1682496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750" b="1" i="0">
                <a:solidFill>
                  <a:srgbClr val="111111"/>
                </a:solidFill>
              </a:rPr>
              <a:t>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73352"/>
            <a:ext cx="243001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650" b="0" i="0">
                <a:solidFill>
                  <a:srgbClr val="666666"/>
                </a:solidFill>
              </a:rPr>
              <a:t>POST /api/auction/{auctionId}/bid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96946" y="181965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AuctionController.placeBid(auctionId)</a:t>
            </a:r>
          </a:p>
        </p:txBody>
      </p:sp>
      <p:sp>
        <p:nvSpPr>
          <p:cNvPr id="21" name="Oval 20"/>
          <p:cNvSpPr/>
          <p:nvPr/>
        </p:nvSpPr>
        <p:spPr>
          <a:xfrm>
            <a:off x="4091482" y="206654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121658" y="213238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996946" y="219456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BidCommandService.placeBid(memberId)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9522" y="2249424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25" name="Oval 24"/>
          <p:cNvSpPr/>
          <p:nvPr/>
        </p:nvSpPr>
        <p:spPr>
          <a:xfrm>
            <a:off x="4091482" y="244144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21658" y="250728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3033522" y="2569464"/>
            <a:ext cx="2176272" cy="438912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600" b="0" i="0">
                <a:solidFill>
                  <a:srgbClr val="111111"/>
                </a:solidFill>
              </a:rPr>
              <a:t>ACTIVE &amp;&amp; not expired
&amp;&amp; price ≥ minBid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49474" y="272308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Yes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4657" y="2723083"/>
            <a:ext cx="34747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111111"/>
                </a:solidFill>
              </a:rPr>
              <a:t>No</a:t>
            </a:r>
          </a:p>
        </p:txBody>
      </p:sp>
      <p:sp>
        <p:nvSpPr>
          <p:cNvPr id="30" name="Oval 29"/>
          <p:cNvSpPr/>
          <p:nvPr/>
        </p:nvSpPr>
        <p:spPr>
          <a:xfrm>
            <a:off x="4091482" y="300837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21658" y="3074212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996946" y="3136392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BidMapper.xml  +  AuctionMapper.xml</a:t>
            </a:r>
          </a:p>
        </p:txBody>
      </p:sp>
      <p:pic>
        <p:nvPicPr>
          <p:cNvPr id="33" name="Picture 32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3086100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570482" y="3461004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tbl_auction
tbl_bid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402586" y="3259836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091482" y="338328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1658" y="344911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996946" y="351129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bidDAO.clearPreviousWinning(auctionId)</a:t>
            </a:r>
          </a:p>
        </p:txBody>
      </p:sp>
      <p:sp>
        <p:nvSpPr>
          <p:cNvPr id="39" name="Oval 38"/>
          <p:cNvSpPr/>
          <p:nvPr/>
        </p:nvSpPr>
        <p:spPr>
          <a:xfrm>
            <a:off x="4091482" y="375818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4121658" y="382402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996946" y="388620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bidDAO.save(bid)</a:t>
            </a:r>
          </a:p>
        </p:txBody>
      </p:sp>
      <p:sp>
        <p:nvSpPr>
          <p:cNvPr id="42" name="Oval 41"/>
          <p:cNvSpPr/>
          <p:nvPr/>
        </p:nvSpPr>
        <p:spPr>
          <a:xfrm>
            <a:off x="4091482" y="41330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21658" y="419892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996946" y="426110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auctionDAO.updateCurrentPrice(auctionId, bidPrice, uniqueBidderCount)</a:t>
            </a:r>
          </a:p>
        </p:txBody>
      </p:sp>
      <p:sp>
        <p:nvSpPr>
          <p:cNvPr id="45" name="Oval 44"/>
          <p:cNvSpPr/>
          <p:nvPr/>
        </p:nvSpPr>
        <p:spPr>
          <a:xfrm>
            <a:off x="4091482" y="450799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121658" y="4573828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996946" y="4636008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notificationService.createNotification(...)</a:t>
            </a:r>
          </a:p>
        </p:txBody>
      </p:sp>
      <p:sp>
        <p:nvSpPr>
          <p:cNvPr id="48" name="Oval 47"/>
          <p:cNvSpPr/>
          <p:nvPr/>
        </p:nvSpPr>
        <p:spPr>
          <a:xfrm>
            <a:off x="4091482" y="4882896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121658" y="4948732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091482" y="5010912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21658" y="5076748"/>
            <a:ext cx="0" cy="49378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003151" y="5157581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228947" y="1344533"/>
            <a:ext cx="237012" cy="23701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17278" y="1645920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9347454" y="1711756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222742" y="1773936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service.js + event.js</a:t>
            </a:r>
          </a:p>
        </p:txBody>
      </p:sp>
      <p:sp>
        <p:nvSpPr>
          <p:cNvPr id="57" name="Oval 56"/>
          <p:cNvSpPr/>
          <p:nvPr/>
        </p:nvSpPr>
        <p:spPr>
          <a:xfrm>
            <a:off x="9317278" y="2020824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47454" y="2086660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8222742" y="2148840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Receive BidResponseDTO</a:t>
            </a:r>
          </a:p>
        </p:txBody>
      </p:sp>
      <p:sp>
        <p:nvSpPr>
          <p:cNvPr id="60" name="Oval 59"/>
          <p:cNvSpPr/>
          <p:nvPr/>
        </p:nvSpPr>
        <p:spPr>
          <a:xfrm>
            <a:off x="9317278" y="239572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347454" y="2461564"/>
            <a:ext cx="0" cy="58522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8222742" y="2523744"/>
            <a:ext cx="2249424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750" b="0" i="0">
                <a:solidFill>
                  <a:srgbClr val="111111"/>
                </a:solidFill>
              </a:rPr>
              <a:t>work-detail.html  ← update highest-bid UI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"/>
            <a:ext cx="822960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2800" b="0" i="0">
                <a:solidFill>
                  <a:srgbClr val="111111"/>
                </a:solidFill>
              </a:rPr>
              <a:t>Auction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03504"/>
            <a:ext cx="11640312" cy="9144"/>
          </a:xfrm>
          <a:prstGeom prst="rect">
            <a:avLst/>
          </a:prstGeom>
          <a:solidFill>
            <a:srgbClr val="BBBBBB"/>
          </a:solidFill>
          <a:ln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822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658368"/>
            <a:ext cx="11731752" cy="61081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658368"/>
            <a:ext cx="1280160" cy="6108192"/>
          </a:xfrm>
          <a:prstGeom prst="rect">
            <a:avLst/>
          </a:prstGeom>
          <a:solidFill>
            <a:srgbClr val="F6F6F6"/>
          </a:solidFill>
          <a:ln w="635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" y="3209544"/>
            <a:ext cx="1133856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1" i="0">
                <a:solidFill>
                  <a:srgbClr val="111111"/>
                </a:solidFill>
              </a:rPr>
              <a:t>Auction
Scheduler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658368"/>
            <a:ext cx="10451592" cy="347472"/>
          </a:xfrm>
          <a:prstGeom prst="rect">
            <a:avLst/>
          </a:prstGeom>
          <a:solidFill>
            <a:srgbClr val="D0D0D0"/>
          </a:solidFill>
          <a:ln w="6350"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3" y="740664"/>
            <a:ext cx="1017727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1100" b="0" i="0">
                <a:solidFill>
                  <a:srgbClr val="111111"/>
                </a:solidFill>
              </a:rPr>
              <a:t>Auction Auto-Close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4556" y="1005840"/>
            <a:ext cx="7315" cy="5760720"/>
          </a:xfrm>
          <a:prstGeom prst="rect">
            <a:avLst/>
          </a:prstGeom>
          <a:solidFill>
            <a:srgbClr val="7A7A7A"/>
          </a:solidFill>
          <a:ln>
            <a:solidFill>
              <a:srgbClr val="7A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5996" y="1051560"/>
            <a:ext cx="511606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800" b="0" i="1">
                <a:solidFill>
                  <a:srgbClr val="666666"/>
                </a:solidFill>
              </a:rPr>
              <a:t>Frontend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6946" y="131673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@Scheduled execution</a:t>
            </a:r>
          </a:p>
        </p:txBody>
      </p:sp>
      <p:sp>
        <p:nvSpPr>
          <p:cNvPr id="14" name="Oval 13"/>
          <p:cNvSpPr/>
          <p:nvPr/>
        </p:nvSpPr>
        <p:spPr>
          <a:xfrm>
            <a:off x="4091482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121658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96946" y="181965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AuctionClosureService.closeExpiredAuctions()</a:t>
            </a:r>
          </a:p>
        </p:txBody>
      </p:sp>
      <p:sp>
        <p:nvSpPr>
          <p:cNvPr id="17" name="Oval 16"/>
          <p:cNvSpPr/>
          <p:nvPr/>
        </p:nvSpPr>
        <p:spPr>
          <a:xfrm>
            <a:off x="4091482" y="212140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121658" y="218724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996946" y="232257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AuctionMapper + BidMapper
+ PaymentMapper + OrderMapper</a:t>
            </a:r>
          </a:p>
        </p:txBody>
      </p:sp>
      <p:pic>
        <p:nvPicPr>
          <p:cNvPr id="20" name="Picture 19" descr="스크린샷 2026-05-24 201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114" y="2299716"/>
            <a:ext cx="347472" cy="3474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70482" y="2674620"/>
            <a:ext cx="1316736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ctr"/>
            <a:r>
              <a:rPr sz="580" b="1" i="0">
                <a:solidFill>
                  <a:srgbClr val="111111"/>
                </a:solidFill>
              </a:rPr>
              <a:t>tbl_auction
tbl_bid
tbl_payment
tbl_order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02586" y="2473452"/>
            <a:ext cx="594360" cy="0"/>
          </a:xfrm>
          <a:prstGeom prst="line">
            <a:avLst/>
          </a:prstGeom>
          <a:ln w="1270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091482" y="262432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121658" y="269016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996946" y="282549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auctionDAO.findExpiredActiveAuctions()</a:t>
            </a:r>
          </a:p>
        </p:txBody>
      </p:sp>
      <p:sp>
        <p:nvSpPr>
          <p:cNvPr id="26" name="Oval 25"/>
          <p:cNvSpPr/>
          <p:nvPr/>
        </p:nvSpPr>
        <p:spPr>
          <a:xfrm>
            <a:off x="4091482" y="312724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121658" y="319308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96946" y="332841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auctionDAO.updateWinnerIfActive(...)</a:t>
            </a:r>
          </a:p>
        </p:txBody>
      </p:sp>
      <p:sp>
        <p:nvSpPr>
          <p:cNvPr id="29" name="Oval 28"/>
          <p:cNvSpPr/>
          <p:nvPr/>
        </p:nvSpPr>
        <p:spPr>
          <a:xfrm>
            <a:off x="4091482" y="363016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121658" y="369600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996946" y="383133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createPendingAuctionPayment()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19522" y="3886200"/>
            <a:ext cx="1360169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Transactional</a:t>
            </a:r>
          </a:p>
        </p:txBody>
      </p:sp>
      <p:sp>
        <p:nvSpPr>
          <p:cNvPr id="33" name="Oval 32"/>
          <p:cNvSpPr/>
          <p:nvPr/>
        </p:nvSpPr>
        <p:spPr>
          <a:xfrm>
            <a:off x="4091482" y="41330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21658" y="41989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96946" y="433425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orderDAO.save(orderVO) + paymentDAO.save(paymentVO)</a:t>
            </a:r>
          </a:p>
        </p:txBody>
      </p:sp>
      <p:sp>
        <p:nvSpPr>
          <p:cNvPr id="36" name="Oval 35"/>
          <p:cNvSpPr/>
          <p:nvPr/>
        </p:nvSpPr>
        <p:spPr>
          <a:xfrm>
            <a:off x="4091482" y="463600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121658" y="470184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996946" y="483717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A7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SimpMessagingTemplate
→ /topic/auction.{id}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2742" y="131673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Result: auction status → CLOSED</a:t>
            </a:r>
          </a:p>
        </p:txBody>
      </p:sp>
      <p:sp>
        <p:nvSpPr>
          <p:cNvPr id="40" name="Oval 39"/>
          <p:cNvSpPr/>
          <p:nvPr/>
        </p:nvSpPr>
        <p:spPr>
          <a:xfrm>
            <a:off x="9317278" y="161848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9347454" y="168432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8222742" y="181965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Winner confirmed</a:t>
            </a:r>
          </a:p>
        </p:txBody>
      </p:sp>
      <p:sp>
        <p:nvSpPr>
          <p:cNvPr id="43" name="Oval 42"/>
          <p:cNvSpPr/>
          <p:nvPr/>
        </p:nvSpPr>
        <p:spPr>
          <a:xfrm>
            <a:off x="9317278" y="212140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347454" y="218724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222742" y="232257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Create PENDING payment order</a:t>
            </a:r>
          </a:p>
        </p:txBody>
      </p:sp>
      <p:sp>
        <p:nvSpPr>
          <p:cNvPr id="46" name="Oval 45"/>
          <p:cNvSpPr/>
          <p:nvPr/>
        </p:nvSpPr>
        <p:spPr>
          <a:xfrm>
            <a:off x="9317278" y="2624328"/>
            <a:ext cx="60350" cy="60350"/>
          </a:xfrm>
          <a:prstGeom prst="ellipse">
            <a:avLst/>
          </a:prstGeom>
          <a:solidFill>
            <a:srgbClr val="111111"/>
          </a:solidFill>
          <a:ln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9347454" y="2690164"/>
            <a:ext cx="0" cy="131674"/>
          </a:xfrm>
          <a:prstGeom prst="line">
            <a:avLst/>
          </a:prstGeom>
          <a:ln w="12700">
            <a:solidFill>
              <a:srgbClr val="11111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22742" y="2825496"/>
            <a:ext cx="2249424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/>
            <a:r>
              <a:rPr sz="900" b="0" i="0">
                <a:solidFill>
                  <a:srgbClr val="111111"/>
                </a:solidFill>
              </a:rPr>
              <a:t>Receive BidBroadcastDTO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